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16"/>
  </p:notesMasterIdLst>
  <p:sldIdLst>
    <p:sldId id="258" r:id="rId3"/>
    <p:sldId id="2147471073" r:id="rId4"/>
    <p:sldId id="2147471121" r:id="rId5"/>
    <p:sldId id="2147471119" r:id="rId6"/>
    <p:sldId id="2147471126" r:id="rId7"/>
    <p:sldId id="2147471125" r:id="rId8"/>
    <p:sldId id="2147471127" r:id="rId9"/>
    <p:sldId id="2147471124" r:id="rId10"/>
    <p:sldId id="2147471122" r:id="rId11"/>
    <p:sldId id="2147471115" r:id="rId12"/>
    <p:sldId id="2147471116" r:id="rId13"/>
    <p:sldId id="2147471114" r:id="rId14"/>
    <p:sldId id="277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7432"/>
    <a:srgbClr val="D0CECE"/>
    <a:srgbClr val="8FAADC"/>
    <a:srgbClr val="4D4D4D"/>
    <a:srgbClr val="000000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21" autoAdjust="0"/>
    <p:restoredTop sz="95828" autoAdjust="0"/>
  </p:normalViewPr>
  <p:slideViewPr>
    <p:cSldViewPr snapToGrid="0">
      <p:cViewPr varScale="1">
        <p:scale>
          <a:sx n="126" d="100"/>
          <a:sy n="126" d="100"/>
        </p:scale>
        <p:origin x="208" y="288"/>
      </p:cViewPr>
      <p:guideLst>
        <p:guide orient="horz" pos="4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8D7A58-990C-4DF7-9E5B-7D20AD66890C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BD1F63-A512-4875-9EF6-AD033F2CC23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826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7991C5-4260-48D3-855E-C1A10D021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605C33-C4F8-4BDA-BC5C-3E1FCE2E1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3DD5BE-D444-4D98-85C1-3B7150913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1B5B7D7-A5EF-4843-8911-EB94CEBD9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6F5CF4-9895-4C13-B70A-BD75799E8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6623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0D178B-C1B1-4AFE-B3A6-3C467178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1D7F2A-2A28-4B05-A5E8-7E923EC3B4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1C8FF8-A63F-4C90-9405-DAB8717A0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EBE6CC-118D-4587-8BE9-D3B216BE9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52901A-63D9-495B-9692-F55EEC30B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542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82BD55-F10A-4B73-BE4F-A0FAD5B15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66C0541-BFB5-4DFB-BA9E-E787F79B4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337588-7EB7-4FF7-BC81-23DE55CB1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C7F2F1-223E-45B3-802C-B627FE3A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AF13E3-1EFE-4FFE-BD42-17C2C8F5F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960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E5B88-3EAE-4729-86CB-2910A336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A1E4BD-6A8A-47D2-A137-F85E0A0DF1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61B9F1-6F0A-43E8-9F61-7D2182FC0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4FBEA8-A639-4FC0-9E7F-1381D758E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C516F7-B3C6-4FCE-926E-7EE7B1E2D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2C8D78-DB97-4160-8171-3F88BC88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080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14A83-F0BA-45EF-BB81-976E68B1B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94F0C26-55BB-4BA2-8B1C-8EF7F779B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F99964-86B5-452A-A5D9-D013372DAE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7F099E-4BC9-4623-9A60-5FC057BDB8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0DBBDD9-0F7D-4FF3-94DD-26660AB022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95E32A6-FE7E-46A5-8D22-97F55BFA9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3AA9DE-6A91-45CF-AEAD-DFAE5E964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99BD5FA-4F45-405D-B239-F4BECE780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232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BC63A5-5DEE-41DE-9A2C-70652BBE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E9D7C4F-419D-4FD2-8491-E9A7137F9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11EF0E-5B74-41BD-BDDF-04D6B53F6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F7D5AC1-13CD-4CB3-ADE0-A7343094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088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493B767-3B25-492A-9EB5-F730DA931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2B7E2D-F108-4984-8D22-6142EB282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1CE2A3-2337-4117-9460-FB7153004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16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D6FA3-7DEC-4FD6-A06A-1B5B84C09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27F2BD-1EDC-4301-84EB-EE34EDFE1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019580-FB2C-4D61-90FC-3641522C48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C60B53-F511-4BE7-B472-9DD3D88A0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029A00-4831-415A-835D-D55E249B9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8DBE60-CC20-4D72-A71A-2CA17231E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82227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0BB79-6FBD-45B0-8081-398D293A0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23B4078-E5CF-4D21-A3A3-6F08ED2467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417CA7-1DA9-4910-878D-72DD1B823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B535C3-F604-48AA-BDF3-8DEA98BC7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4A6E4DA-729E-4B94-B75B-E897A21FB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B6956B-1357-4912-B567-FAF43830A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46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38DCEB-9C3A-4B3D-B0B5-195FDE16E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A25D20F-4355-462A-86AD-A12E3CDE67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7551CF-3C45-4FB1-94A4-32C2BA825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929DF7-085E-40D1-964C-F28180C2B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535CCD-A63C-44CE-A7A0-AC54083B3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841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62BFE91-6AA0-40B5-81D3-0D696254BA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636BE2-19B9-427E-9D7D-CCDF5F0904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48C990-B103-4FB0-8E6A-CDD90A7E0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F241CD-79AD-4B7A-9280-7677F24F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DA6299-E747-4624-AACC-F5DAFF069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451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CA7C78-7BF1-4525-9269-D4835DE6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7750" y="6356350"/>
            <a:ext cx="2743200" cy="365125"/>
          </a:xfr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A8F93904-E216-469F-9D19-64618A2183C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28BE175-A3EC-4A57-BC05-5D3291EA3275}"/>
              </a:ext>
            </a:extLst>
          </p:cNvPr>
          <p:cNvCxnSpPr/>
          <p:nvPr userDrawn="1"/>
        </p:nvCxnSpPr>
        <p:spPr>
          <a:xfrm>
            <a:off x="442261" y="510988"/>
            <a:ext cx="1127162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8861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D74C05A-97E6-41A9-B362-0522198CD55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30168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CA7C78-7BF1-4525-9269-D4835DE6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7750" y="6356350"/>
            <a:ext cx="2743200" cy="365125"/>
          </a:xfr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A8F93904-E216-469F-9D19-64618A2183C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28BE175-A3EC-4A57-BC05-5D3291EA3275}"/>
              </a:ext>
            </a:extLst>
          </p:cNvPr>
          <p:cNvCxnSpPr/>
          <p:nvPr userDrawn="1"/>
        </p:nvCxnSpPr>
        <p:spPr>
          <a:xfrm>
            <a:off x="442261" y="510988"/>
            <a:ext cx="1127162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>
            <a:extLst>
              <a:ext uri="{FF2B5EF4-FFF2-40B4-BE49-F238E27FC236}">
                <a16:creationId xmlns:a16="http://schemas.microsoft.com/office/drawing/2014/main" id="{C178E30C-9769-447C-8C27-59A63E36B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87491" y="163159"/>
            <a:ext cx="1561905" cy="2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129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CA7C78-7BF1-4525-9269-D4835DE6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7750" y="6356350"/>
            <a:ext cx="2743200" cy="365125"/>
          </a:xfr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A8F93904-E216-469F-9D19-64618A2183CB}" type="slidenum">
              <a:rPr lang="ko-KR" altLang="en-US" smtClean="0"/>
              <a:pPr/>
              <a:t>‹#›</a:t>
            </a:fld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28BE175-A3EC-4A57-BC05-5D3291EA3275}"/>
              </a:ext>
            </a:extLst>
          </p:cNvPr>
          <p:cNvCxnSpPr/>
          <p:nvPr userDrawn="1"/>
        </p:nvCxnSpPr>
        <p:spPr>
          <a:xfrm>
            <a:off x="442261" y="510988"/>
            <a:ext cx="1127162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0DC81-2DA6-4C6E-C7D2-E068B798E66F}"/>
              </a:ext>
            </a:extLst>
          </p:cNvPr>
          <p:cNvSpPr txBox="1"/>
          <p:nvPr userDrawn="1"/>
        </p:nvSpPr>
        <p:spPr>
          <a:xfrm>
            <a:off x="10307994" y="92589"/>
            <a:ext cx="16818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800" b="0" i="0" dirty="0">
                <a:solidFill>
                  <a:schemeClr val="tx1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설해원雪海園</a:t>
            </a:r>
          </a:p>
        </p:txBody>
      </p:sp>
    </p:spTree>
    <p:extLst>
      <p:ext uri="{BB962C8B-B14F-4D97-AF65-F5344CB8AC3E}">
        <p14:creationId xmlns:p14="http://schemas.microsoft.com/office/powerpoint/2010/main" val="25743801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D74C05A-97E6-41A9-B362-0522198CD55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77809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E96AF-9B9F-47B7-A5B9-0291C3241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32F63F-CE24-4C03-91CC-A973BDFFB7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FE10A8-C0C0-4C29-AC0A-84DC1EDC3F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66DA12-F364-42F4-954B-3F078B348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7D961AB-1B5F-41A4-8B8A-5B0E6AB7C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0A8E8-236A-4364-AF77-CC95EA5E6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4038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5A39C-0C6E-4195-9FF0-ADDBE6F43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2D39F4-D5E7-420F-B5D6-DB067462B1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73B739-7870-4E5B-9CCC-BD8029ADED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C4B44ED-D593-4AAB-96FA-C2826C8DE7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1E3B3BD-CBF2-4D34-B8DC-41B760971C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A88BE30-9687-4105-92E5-3ED208F4F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78B2AAF-29B9-49D8-937B-AAAF113DF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CE6A766-043D-4678-85A2-5EFBA8190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33244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32566-D67C-4724-A5A1-6470239B1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DFB204E-CAE7-4E43-83FE-11A61C62E0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7E6152-4866-4C49-AF5C-82564056D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57BD49-74F9-4DD0-835E-39BF56C41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89016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2BE028F-8129-4FFE-B59A-23F2003DE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1E9634C-4954-4CCA-876B-160D13B61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7AD8BE-A3B6-4766-9874-D7C20D1A7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084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F89E94-0543-4C10-BDC1-44FA6E7D5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3993AC-641B-4891-8399-4B197C2B1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6193BB0-0075-432A-9074-4A912E23F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E9615E-0DCE-46AD-9D17-75799313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3C858B0-6DAC-47C4-9C5A-0585187E1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C87259-CEE5-4B01-8C49-BE2204799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87709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42984D-AAA0-41A8-A414-300DCA84D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DD26404-8401-4C68-9630-B8DDF31567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5C5FC8-79E7-4030-ACED-B8D49BE65D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5D774EE-9E87-4CCD-9A50-03640EAA7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350CB5-E1AC-458D-B06F-6C342738A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DFA389F-C42B-42DB-AA8B-A503F43D8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4642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D90BA6-658B-49DC-99F7-D9E9E8CF2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EC360B-922C-4E06-866A-6145F35FC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A7436D-67A7-4D6D-B8FE-3C59019AC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EEA68A-F804-44D9-83A0-18657F441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BB8E55-383C-45BA-B781-84AD7FC94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260595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757DC7B-D9BA-40F9-943E-EA2F07B4E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636A6AF-79F2-438E-9CFF-82D1AFEB1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B7F8CE-BED1-4859-834E-3C3EBD634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F7F40-7C9F-4178-B582-22319EAEF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B4120B-356A-4638-801A-243CB9DC2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175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088766F-5774-4B4A-8D35-03BDB13B1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4672E0F-F293-4A30-A59D-19DF7DDFD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6723AB-A871-4A68-96E3-DE5D40504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DB02D7-E5EB-4A6F-B1F1-CB5FC431220B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923F55-55A7-4ABB-8493-6B962A0115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57CD24-10E3-428A-977C-9D341FA525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BAC05-4068-458A-806D-8999B7A23EB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91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73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99227F-6C3A-4702-BACC-7EA63F8FAC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F23360-3705-4BEB-AC96-5A8DDE7F522E}" type="datetimeFigureOut">
              <a:rPr lang="ko-KR" altLang="en-US" smtClean="0"/>
              <a:t>2025. 6. 19.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4AA6D6-DAFF-4411-A4D2-D2D8D9D456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ABF260-9E97-4B78-BF51-0847908FB3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F93904-E216-469F-9D19-64618A2183C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6007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6">
            <a:extLst>
              <a:ext uri="{FF2B5EF4-FFF2-40B4-BE49-F238E27FC236}">
                <a16:creationId xmlns:a16="http://schemas.microsoft.com/office/drawing/2014/main" id="{299FF005-18EF-43AC-9B7B-A56B3D3BF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219" y="5994798"/>
            <a:ext cx="446500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defRPr kumimoji="1" sz="1200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Next LT Pro Regular" panose="020B0504020202020204" pitchFamily="34" charset="0"/>
                <a:ea typeface="굴림" panose="020B0600000101010101" pitchFamily="50" charset="-127"/>
                <a:cs typeface="+mn-cs"/>
              </a:rPr>
              <a:t>Looking for the path to e-Business?  Digitalworks shows you the way.</a:t>
            </a:r>
            <a:br>
              <a:rPr kumimoji="1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Next LT Pro Regular" panose="020B0504020202020204" pitchFamily="34" charset="0"/>
                <a:ea typeface="굴림" panose="020B0600000101010101" pitchFamily="50" charset="-127"/>
                <a:cs typeface="+mn-cs"/>
              </a:rPr>
            </a:b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Next LT Pro Regular" panose="020B0504020202020204" pitchFamily="34" charset="0"/>
                <a:ea typeface="굴림" panose="020B0600000101010101" pitchFamily="50" charset="-127"/>
                <a:cs typeface="+mn-cs"/>
              </a:rPr>
              <a:t>Proprietary and Confidential   Copyright ⓒ 2013  Digitalworks </a:t>
            </a:r>
            <a:r>
              <a:rPr kumimoji="0" lang="en-US" altLang="ko-KR" sz="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Next LT Pro Regular" panose="020B0504020202020204" pitchFamily="34" charset="0"/>
                <a:ea typeface="굴림" panose="020B0600000101010101" pitchFamily="50" charset="-127"/>
                <a:cs typeface="+mn-cs"/>
              </a:rPr>
              <a:t>TM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Next LT Pro Regular" panose="020B0504020202020204" pitchFamily="34" charset="0"/>
                <a:ea typeface="굴림" panose="020B0600000101010101" pitchFamily="50" charset="-127"/>
                <a:cs typeface="+mn-cs"/>
              </a:rPr>
              <a:t>.  All rights reserved.</a:t>
            </a:r>
            <a:endParaRPr kumimoji="1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Next LT Pro Regular" panose="020B0504020202020204" pitchFamily="34" charset="0"/>
              <a:ea typeface="굴림" panose="020B0600000101010101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4F20F2-EFC6-4058-B609-2255BD25C8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25" y="5727853"/>
            <a:ext cx="1824045" cy="153525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7085E3-D550-4AE6-82B9-D71771A56958}"/>
              </a:ext>
            </a:extLst>
          </p:cNvPr>
          <p:cNvSpPr txBox="1"/>
          <p:nvPr/>
        </p:nvSpPr>
        <p:spPr>
          <a:xfrm>
            <a:off x="504359" y="1304533"/>
            <a:ext cx="27927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-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Noto Sans" panose="020B0502040504020204" pitchFamily="34" charset="0"/>
              </a:rPr>
              <a:t>Renewal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83F5E3-C9D4-4ADE-8DD9-3CB4BB325DAE}"/>
              </a:ext>
            </a:extLst>
          </p:cNvPr>
          <p:cNvSpPr txBox="1"/>
          <p:nvPr/>
        </p:nvSpPr>
        <p:spPr>
          <a:xfrm>
            <a:off x="540219" y="2536570"/>
            <a:ext cx="1539204" cy="577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rtlCol="0">
            <a:spAutoFit/>
          </a:bodyPr>
          <a:lstStyle>
            <a:defPPr>
              <a:defRPr lang="ko-KR"/>
            </a:defPPr>
            <a:lvl1pPr eaLnBrk="0" hangingPunct="0">
              <a:lnSpc>
                <a:spcPct val="200000"/>
              </a:lnSpc>
              <a:defRPr kumimoji="1" sz="1100" b="1">
                <a:latin typeface="+mn-ea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marL="0" marR="0" lvl="0" indent="0" algn="l" defTabSz="914400" rtl="0" eaLnBrk="0" fontAlgn="auto" latinLnBrk="1" hangingPunct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2025.06.20</a:t>
            </a:r>
            <a:endParaRPr kumimoji="1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14FDDC-5E16-4294-BACA-092A3A9BDD87}"/>
              </a:ext>
            </a:extLst>
          </p:cNvPr>
          <p:cNvSpPr txBox="1"/>
          <p:nvPr/>
        </p:nvSpPr>
        <p:spPr>
          <a:xfrm>
            <a:off x="504359" y="2021711"/>
            <a:ext cx="1633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b="0" i="0" u="none" strike="noStrike" kern="1200" cap="none" spc="-7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Noto Sans" panose="020B0502040504020204" pitchFamily="34" charset="0"/>
              </a:rPr>
              <a:t>업무 범위 협의 </a:t>
            </a:r>
            <a:endParaRPr kumimoji="0" lang="en-US" altLang="ko-KR" b="0" i="0" u="none" strike="noStrike" kern="1200" cap="none" spc="-7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Noto Sans" panose="020B0502040504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5C5CE1F-04A8-003A-E048-04B76B3D41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96"/>
          <a:stretch/>
        </p:blipFill>
        <p:spPr>
          <a:xfrm>
            <a:off x="6023728" y="0"/>
            <a:ext cx="6168272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2AD3C50-B232-1F67-0B5A-4A2838CE632B}"/>
              </a:ext>
            </a:extLst>
          </p:cNvPr>
          <p:cNvSpPr txBox="1"/>
          <p:nvPr/>
        </p:nvSpPr>
        <p:spPr>
          <a:xfrm>
            <a:off x="504359" y="776666"/>
            <a:ext cx="23968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雪海園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A615432-D173-4AD2-12F2-E58D72CE2216}"/>
              </a:ext>
            </a:extLst>
          </p:cNvPr>
          <p:cNvSpPr/>
          <p:nvPr/>
        </p:nvSpPr>
        <p:spPr>
          <a:xfrm>
            <a:off x="6023728" y="0"/>
            <a:ext cx="6168272" cy="6858000"/>
          </a:xfrm>
          <a:prstGeom prst="rect">
            <a:avLst/>
          </a:prstGeom>
          <a:solidFill>
            <a:schemeClr val="tx1">
              <a:alpha val="1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5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제목 1">
            <a:extLst>
              <a:ext uri="{FF2B5EF4-FFF2-40B4-BE49-F238E27FC236}">
                <a16:creationId xmlns:a16="http://schemas.microsoft.com/office/drawing/2014/main" id="{F45AD15C-C168-4495-A1C6-55BAEEDBF7FB}"/>
              </a:ext>
            </a:extLst>
          </p:cNvPr>
          <p:cNvSpPr txBox="1">
            <a:spLocks/>
          </p:cNvSpPr>
          <p:nvPr/>
        </p:nvSpPr>
        <p:spPr>
          <a:xfrm>
            <a:off x="0" y="2158472"/>
            <a:ext cx="12192000" cy="4325611"/>
          </a:xfrm>
          <a:prstGeom prst="rect">
            <a:avLst/>
          </a:prstGeom>
          <a:solidFill>
            <a:srgbClr val="A57432"/>
          </a:solidFill>
        </p:spPr>
        <p:txBody>
          <a:bodyPr vert="horz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247525B9-98BB-4605-A2B1-0E6832C60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44011" y="1015444"/>
            <a:ext cx="3703979" cy="448408"/>
          </a:xfrm>
        </p:spPr>
        <p:txBody>
          <a:bodyPr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요구사항 및 개선 안 정의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CBD62D7-703F-4D4C-9295-56AB82E14C9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9806" y="6609575"/>
            <a:ext cx="1272383" cy="107092"/>
          </a:xfrm>
          <a:prstGeom prst="rect">
            <a:avLst/>
          </a:prstGeom>
        </p:spPr>
      </p:pic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FBA3F78-2FDE-4DCD-9ABC-474F2D809658}"/>
              </a:ext>
            </a:extLst>
          </p:cNvPr>
          <p:cNvCxnSpPr>
            <a:cxnSpLocks/>
          </p:cNvCxnSpPr>
          <p:nvPr/>
        </p:nvCxnSpPr>
        <p:spPr>
          <a:xfrm>
            <a:off x="5768830" y="1558252"/>
            <a:ext cx="654341" cy="0"/>
          </a:xfrm>
          <a:prstGeom prst="line">
            <a:avLst/>
          </a:prstGeom>
          <a:ln w="38100">
            <a:solidFill>
              <a:srgbClr val="A574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제목 1">
            <a:extLst>
              <a:ext uri="{FF2B5EF4-FFF2-40B4-BE49-F238E27FC236}">
                <a16:creationId xmlns:a16="http://schemas.microsoft.com/office/drawing/2014/main" id="{3A317A14-1437-4BB9-8C3A-250F25351036}"/>
              </a:ext>
            </a:extLst>
          </p:cNvPr>
          <p:cNvSpPr txBox="1">
            <a:spLocks/>
          </p:cNvSpPr>
          <p:nvPr/>
        </p:nvSpPr>
        <p:spPr>
          <a:xfrm>
            <a:off x="970606" y="3155417"/>
            <a:ext cx="5850818" cy="2331720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프로젝트 개요 </a:t>
            </a:r>
            <a:endParaRPr lang="en-US" altLang="ko-KR" sz="1800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50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업무 범위 </a:t>
            </a:r>
            <a:endParaRPr lang="en-US" altLang="ko-KR" sz="1800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50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서비스 시나리오 </a:t>
            </a:r>
            <a:endParaRPr lang="en-US" altLang="ko-KR" sz="1800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50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ko-KR" altLang="en-US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이슈 확인 </a:t>
            </a:r>
            <a:endParaRPr lang="en-US" altLang="ko-KR" sz="1800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 Medium" panose="02000603000000020004" pitchFamily="50" charset="-127"/>
            </a:endParaRPr>
          </a:p>
          <a:p>
            <a:pPr marR="0" lvl="0" algn="l" defTabSz="914400" rtl="0" eaLnBrk="1" fontAlgn="auto" latinLnBrk="1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* </a:t>
            </a:r>
            <a:r>
              <a:rPr lang="ko-KR" altLang="en-US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별첨 </a:t>
            </a:r>
            <a:r>
              <a:rPr lang="en-US" altLang="ko-KR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:</a:t>
            </a:r>
            <a:r>
              <a:rPr lang="ko-KR" altLang="en-US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 요구 사항 및 </a:t>
            </a:r>
            <a:r>
              <a:rPr lang="en-US" altLang="ko-KR" sz="18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 Medium" panose="02000603000000020004" pitchFamily="50" charset="-127"/>
              </a:rPr>
              <a:t>IA </a:t>
            </a: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531DE44-7491-407B-96EF-927D52FED1A7}"/>
              </a:ext>
            </a:extLst>
          </p:cNvPr>
          <p:cNvSpPr txBox="1">
            <a:spLocks/>
          </p:cNvSpPr>
          <p:nvPr/>
        </p:nvSpPr>
        <p:spPr>
          <a:xfrm>
            <a:off x="4244011" y="1647318"/>
            <a:ext cx="3703979" cy="44840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1200" dirty="0">
                <a:latin typeface="G마켓 산스 TTF Light" panose="02000000000000000000" pitchFamily="2" charset="-127"/>
                <a:ea typeface="G마켓 산스 TTF Light" panose="02000000000000000000" pitchFamily="2" charset="-127"/>
                <a:cs typeface="Pretendard Medium" panose="02000603000000020004" pitchFamily="50" charset="-127"/>
              </a:rPr>
              <a:t>2025.06.20</a:t>
            </a:r>
            <a:endParaRPr lang="ko-KR" altLang="en-US" sz="1200" dirty="0">
              <a:latin typeface="G마켓 산스 TTF Light" panose="02000000000000000000" pitchFamily="2" charset="-127"/>
              <a:ea typeface="G마켓 산스 TTF Light" panose="02000000000000000000" pitchFamily="2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5394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A7056F56-6786-90D6-6093-12707D4C6271}"/>
              </a:ext>
            </a:extLst>
          </p:cNvPr>
          <p:cNvSpPr/>
          <p:nvPr/>
        </p:nvSpPr>
        <p:spPr>
          <a:xfrm>
            <a:off x="4677610" y="3634082"/>
            <a:ext cx="2719687" cy="271968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52D5A27C-5D1E-4279-9C2F-F189F9782D3E}"/>
              </a:ext>
            </a:extLst>
          </p:cNvPr>
          <p:cNvSpPr/>
          <p:nvPr/>
        </p:nvSpPr>
        <p:spPr>
          <a:xfrm>
            <a:off x="4746071" y="4270282"/>
            <a:ext cx="176830" cy="176830"/>
          </a:xfrm>
          <a:prstGeom prst="ellipse">
            <a:avLst/>
          </a:prstGeom>
          <a:solidFill>
            <a:srgbClr val="EC6763"/>
          </a:solidFill>
          <a:ln>
            <a:solidFill>
              <a:srgbClr val="EC67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EC595BCB-8584-3062-1590-787AC9C3F7DD}"/>
              </a:ext>
            </a:extLst>
          </p:cNvPr>
          <p:cNvSpPr/>
          <p:nvPr/>
        </p:nvSpPr>
        <p:spPr bwMode="auto">
          <a:xfrm>
            <a:off x="1078717" y="3391360"/>
            <a:ext cx="3456668" cy="250227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프리미엄 공간으로 서의 브랜딩  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4C1CEE4-8498-641E-F9D5-2ECECFE47826}"/>
              </a:ext>
            </a:extLst>
          </p:cNvPr>
          <p:cNvSpPr/>
          <p:nvPr/>
        </p:nvSpPr>
        <p:spPr>
          <a:xfrm>
            <a:off x="5361219" y="3035439"/>
            <a:ext cx="1409097" cy="1409097"/>
          </a:xfrm>
          <a:prstGeom prst="ellipse">
            <a:avLst/>
          </a:prstGeom>
          <a:solidFill>
            <a:schemeClr val="bg2">
              <a:lumMod val="9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사용성 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EEC828BA-25B3-3527-8FD5-B00292F55834}"/>
              </a:ext>
            </a:extLst>
          </p:cNvPr>
          <p:cNvSpPr/>
          <p:nvPr/>
        </p:nvSpPr>
        <p:spPr>
          <a:xfrm>
            <a:off x="4227143" y="4780842"/>
            <a:ext cx="1409097" cy="1409097"/>
          </a:xfrm>
          <a:prstGeom prst="ellipse">
            <a:avLst/>
          </a:prstGeom>
          <a:solidFill>
            <a:schemeClr val="bg2">
              <a:lumMod val="9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효율성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787129E-6117-B082-B05A-78E49C5687AD}"/>
              </a:ext>
            </a:extLst>
          </p:cNvPr>
          <p:cNvSpPr/>
          <p:nvPr/>
        </p:nvSpPr>
        <p:spPr>
          <a:xfrm>
            <a:off x="7193436" y="4315105"/>
            <a:ext cx="176830" cy="176830"/>
          </a:xfrm>
          <a:prstGeom prst="ellipse">
            <a:avLst/>
          </a:prstGeom>
          <a:solidFill>
            <a:srgbClr val="EC6763"/>
          </a:solidFill>
          <a:ln>
            <a:solidFill>
              <a:srgbClr val="EC67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7BEA428-CB3D-9AD9-91C9-02B031E7E34A}"/>
              </a:ext>
            </a:extLst>
          </p:cNvPr>
          <p:cNvCxnSpPr>
            <a:cxnSpLocks/>
            <a:stCxn id="9" idx="7"/>
            <a:endCxn id="17" idx="1"/>
          </p:cNvCxnSpPr>
          <p:nvPr/>
        </p:nvCxnSpPr>
        <p:spPr>
          <a:xfrm flipV="1">
            <a:off x="7344370" y="3582363"/>
            <a:ext cx="211052" cy="758638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타원 10">
            <a:extLst>
              <a:ext uri="{FF2B5EF4-FFF2-40B4-BE49-F238E27FC236}">
                <a16:creationId xmlns:a16="http://schemas.microsoft.com/office/drawing/2014/main" id="{89E3262F-ABE9-9F8E-DB56-E4C5E595FAEA}"/>
              </a:ext>
            </a:extLst>
          </p:cNvPr>
          <p:cNvSpPr/>
          <p:nvPr/>
        </p:nvSpPr>
        <p:spPr>
          <a:xfrm>
            <a:off x="6503673" y="4747836"/>
            <a:ext cx="1409097" cy="1409097"/>
          </a:xfrm>
          <a:prstGeom prst="ellipse">
            <a:avLst/>
          </a:prstGeom>
          <a:solidFill>
            <a:schemeClr val="bg2">
              <a:lumMod val="9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고객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</a:b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만족 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D01CCD8-20C0-B193-2CBB-2D69EFA9E8AE}"/>
              </a:ext>
            </a:extLst>
          </p:cNvPr>
          <p:cNvSpPr/>
          <p:nvPr/>
        </p:nvSpPr>
        <p:spPr>
          <a:xfrm>
            <a:off x="5361219" y="4283106"/>
            <a:ext cx="1409097" cy="1409097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설해원 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7C68198-48F5-D6DC-4608-ABC03B55A605}"/>
              </a:ext>
            </a:extLst>
          </p:cNvPr>
          <p:cNvSpPr/>
          <p:nvPr/>
        </p:nvSpPr>
        <p:spPr>
          <a:xfrm>
            <a:off x="6011632" y="6272131"/>
            <a:ext cx="176830" cy="176830"/>
          </a:xfrm>
          <a:prstGeom prst="ellipse">
            <a:avLst/>
          </a:prstGeom>
          <a:solidFill>
            <a:srgbClr val="EC6763"/>
          </a:solidFill>
          <a:ln>
            <a:solidFill>
              <a:srgbClr val="EC67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7F429E9-3AF1-3AA8-87BE-27F3E4B4A500}"/>
              </a:ext>
            </a:extLst>
          </p:cNvPr>
          <p:cNvCxnSpPr>
            <a:cxnSpLocks/>
            <a:endCxn id="16" idx="1"/>
          </p:cNvCxnSpPr>
          <p:nvPr/>
        </p:nvCxnSpPr>
        <p:spPr>
          <a:xfrm flipV="1">
            <a:off x="6188462" y="5457135"/>
            <a:ext cx="1920221" cy="913492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6E66BBE-3049-D828-1548-5355DFE2D2B7}"/>
              </a:ext>
            </a:extLst>
          </p:cNvPr>
          <p:cNvSpPr/>
          <p:nvPr/>
        </p:nvSpPr>
        <p:spPr bwMode="auto">
          <a:xfrm>
            <a:off x="8108683" y="5332021"/>
            <a:ext cx="3964256" cy="250227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프로모션 및 맞춤 서비스 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95C1688-EECC-87AC-CD1D-63D1528F26F9}"/>
              </a:ext>
            </a:extLst>
          </p:cNvPr>
          <p:cNvSpPr/>
          <p:nvPr/>
        </p:nvSpPr>
        <p:spPr bwMode="auto">
          <a:xfrm>
            <a:off x="7555422" y="3457249"/>
            <a:ext cx="4517516" cy="250227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사용성 강화 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18DADD8-7F40-DE96-7DEC-EEAB5380B693}"/>
              </a:ext>
            </a:extLst>
          </p:cNvPr>
          <p:cNvSpPr/>
          <p:nvPr/>
        </p:nvSpPr>
        <p:spPr>
          <a:xfrm>
            <a:off x="608013" y="1219805"/>
            <a:ext cx="11065541" cy="624870"/>
          </a:xfrm>
          <a:prstGeom prst="rect">
            <a:avLst/>
          </a:prstGeom>
          <a:solidFill>
            <a:srgbClr val="A574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lang="ko-KR" altLang="en-US" sz="14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</a:t>
            </a:r>
            <a:r>
              <a:rPr lang="en-US" altLang="ko-KR" sz="14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설악산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說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과 동해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海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를 품은 쉼의 정원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園</a:t>
            </a:r>
            <a:r>
              <a:rPr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)’</a:t>
            </a:r>
            <a:endParaRPr lang="ko-KR" altLang="en-US" sz="1200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9619AB-2566-E4F4-973E-8718AF799EA7}"/>
              </a:ext>
            </a:extLst>
          </p:cNvPr>
          <p:cNvSpPr/>
          <p:nvPr/>
        </p:nvSpPr>
        <p:spPr>
          <a:xfrm>
            <a:off x="524108" y="673566"/>
            <a:ext cx="125256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목표 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3E93E21-5981-06EE-908E-EB0B84129CEA}"/>
              </a:ext>
            </a:extLst>
          </p:cNvPr>
          <p:cNvSpPr/>
          <p:nvPr/>
        </p:nvSpPr>
        <p:spPr>
          <a:xfrm>
            <a:off x="519687" y="2286008"/>
            <a:ext cx="454569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개발 방향</a:t>
            </a: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EBD849D-6B2A-C62B-ABB0-90D64E4811AA}"/>
              </a:ext>
            </a:extLst>
          </p:cNvPr>
          <p:cNvCxnSpPr>
            <a:cxnSpLocks/>
          </p:cNvCxnSpPr>
          <p:nvPr/>
        </p:nvCxnSpPr>
        <p:spPr>
          <a:xfrm>
            <a:off x="608013" y="954324"/>
            <a:ext cx="80168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E608167-E7D5-58CC-C405-D83100A8AD2C}"/>
              </a:ext>
            </a:extLst>
          </p:cNvPr>
          <p:cNvCxnSpPr>
            <a:cxnSpLocks/>
          </p:cNvCxnSpPr>
          <p:nvPr/>
        </p:nvCxnSpPr>
        <p:spPr>
          <a:xfrm>
            <a:off x="608013" y="2571750"/>
            <a:ext cx="80168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448F969-CD91-A76C-9275-D9B21E5572F8}"/>
              </a:ext>
            </a:extLst>
          </p:cNvPr>
          <p:cNvSpPr txBox="1"/>
          <p:nvPr/>
        </p:nvSpPr>
        <p:spPr>
          <a:xfrm>
            <a:off x="329924" y="156695"/>
            <a:ext cx="1483098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프로젝트 개요</a:t>
            </a:r>
          </a:p>
        </p:txBody>
      </p:sp>
      <p:sp>
        <p:nvSpPr>
          <p:cNvPr id="25" name="슬라이드 번호 개체 틀 8">
            <a:extLst>
              <a:ext uri="{FF2B5EF4-FFF2-40B4-BE49-F238E27FC236}">
                <a16:creationId xmlns:a16="http://schemas.microsoft.com/office/drawing/2014/main" id="{C0E066FD-4869-479C-B130-6ABCAD935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84083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t>/ </a:t>
            </a:r>
            <a:fld id="{D5866FCA-0B87-40E1-9583-0E9C7650E22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+mn-cs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F4384A9-0094-4E8D-AF9D-37FCC0DA17F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543546B-A912-430E-81C9-5D5B3ADC0A97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4512165" y="3496848"/>
            <a:ext cx="259802" cy="79933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3EC4BB49-F396-4E6C-856C-4AA4A0920B93}"/>
              </a:ext>
            </a:extLst>
          </p:cNvPr>
          <p:cNvSpPr/>
          <p:nvPr/>
        </p:nvSpPr>
        <p:spPr>
          <a:xfrm>
            <a:off x="608013" y="2674182"/>
            <a:ext cx="842730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프리미엄</a:t>
            </a:r>
            <a:r>
              <a:rPr lang="en-US" altLang="ko-KR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공간 으로서의 브랜딩 강화와 함께 예약</a:t>
            </a:r>
            <a:r>
              <a:rPr lang="en-US" altLang="ko-KR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및 프로모션 기능 적용을 통한 사용성 확대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Arial" panose="020B0604020202020204" pitchFamily="34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F80D1EC-6DD0-4FC3-92B8-69B9D86E16AD}"/>
              </a:ext>
            </a:extLst>
          </p:cNvPr>
          <p:cNvSpPr/>
          <p:nvPr/>
        </p:nvSpPr>
        <p:spPr>
          <a:xfrm>
            <a:off x="993091" y="3732145"/>
            <a:ext cx="2792752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다양한 혜택 및 시설에 대한 </a:t>
            </a:r>
            <a:b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</a:b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비주얼 요소 및 정보 제공</a:t>
            </a:r>
            <a:b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</a:b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브랜드영상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스토리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부대시설소개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Arial" panose="020B0604020202020204" pitchFamily="34" charset="0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99B6ED85-6EE7-407A-B4AE-72C0BAE1ED7C}"/>
              </a:ext>
            </a:extLst>
          </p:cNvPr>
          <p:cNvSpPr/>
          <p:nvPr/>
        </p:nvSpPr>
        <p:spPr>
          <a:xfrm>
            <a:off x="8023081" y="5633068"/>
            <a:ext cx="3695242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marR="0" lvl="0" indent="-28575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프로모션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스페셜 오퍼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맞춤 제안 등 고객 만족을 </a:t>
            </a:r>
            <a:b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</a:b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위한 서비스 제공 </a:t>
            </a:r>
            <a:b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</a:b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맞춤제안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프로모션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할인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패키지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)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적용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Arial" panose="020B0604020202020204" pitchFamily="34" charset="0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A0725355-9AC6-4D3E-935D-99B3FBC379FE}"/>
              </a:ext>
            </a:extLst>
          </p:cNvPr>
          <p:cNvSpPr/>
          <p:nvPr/>
        </p:nvSpPr>
        <p:spPr>
          <a:xfrm>
            <a:off x="7502490" y="3776274"/>
            <a:ext cx="4371710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marR="0" lvl="0" indent="-285750" algn="l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시설 안내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예약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회원 서비스 및 혜택 전달에 대한 접근성과 </a:t>
            </a:r>
            <a:b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</a:b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편리한 이용이 가능하도록 개선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 </a:t>
            </a:r>
            <a:b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</a:b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반응형 웹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예약및결제프로세스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#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Arial" panose="020B0604020202020204" pitchFamily="34" charset="0"/>
              </a:rPr>
              <a:t>회원관리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3694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2B265A85-7F81-4133-9F36-CB2804A17079}"/>
              </a:ext>
            </a:extLst>
          </p:cNvPr>
          <p:cNvCxnSpPr>
            <a:cxnSpLocks/>
          </p:cNvCxnSpPr>
          <p:nvPr/>
        </p:nvCxnSpPr>
        <p:spPr>
          <a:xfrm>
            <a:off x="3712166" y="3280356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78C6AEBC-F86E-4F1D-96D2-5525BECA7D9E}"/>
              </a:ext>
            </a:extLst>
          </p:cNvPr>
          <p:cNvCxnSpPr/>
          <p:nvPr/>
        </p:nvCxnSpPr>
        <p:spPr>
          <a:xfrm>
            <a:off x="893530" y="3244706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6CF3B3EA-A946-4A1D-941B-0BC240676869}"/>
              </a:ext>
            </a:extLst>
          </p:cNvPr>
          <p:cNvCxnSpPr/>
          <p:nvPr/>
        </p:nvCxnSpPr>
        <p:spPr>
          <a:xfrm>
            <a:off x="6103927" y="3280355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FBA57CAE-B370-4795-8B96-4E367E0D465B}"/>
              </a:ext>
            </a:extLst>
          </p:cNvPr>
          <p:cNvCxnSpPr>
            <a:cxnSpLocks/>
          </p:cNvCxnSpPr>
          <p:nvPr/>
        </p:nvCxnSpPr>
        <p:spPr>
          <a:xfrm>
            <a:off x="864044" y="2364439"/>
            <a:ext cx="0" cy="221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5B70F5F6-CD62-46C0-ABC9-2B795257EEF3}"/>
              </a:ext>
            </a:extLst>
          </p:cNvPr>
          <p:cNvCxnSpPr>
            <a:cxnSpLocks/>
          </p:cNvCxnSpPr>
          <p:nvPr/>
        </p:nvCxnSpPr>
        <p:spPr>
          <a:xfrm>
            <a:off x="3712166" y="2377385"/>
            <a:ext cx="0" cy="221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EFF5B55-2BA9-F52E-796F-44225E335039}"/>
              </a:ext>
            </a:extLst>
          </p:cNvPr>
          <p:cNvSpPr/>
          <p:nvPr/>
        </p:nvSpPr>
        <p:spPr>
          <a:xfrm>
            <a:off x="479425" y="1544619"/>
            <a:ext cx="4686629" cy="622142"/>
          </a:xfrm>
          <a:prstGeom prst="roundRect">
            <a:avLst/>
          </a:prstGeom>
          <a:solidFill>
            <a:srgbClr val="A574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kumimoji="0" lang="ko-KR" altLang="en-US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</a:t>
            </a:r>
            <a:br>
              <a:rPr lang="en-US" altLang="ko-KR" sz="14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‘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설악산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說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과 동해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海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를 품은 쉼의 정원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園</a:t>
            </a: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)’</a:t>
            </a:r>
            <a:endParaRPr lang="ko-KR" altLang="en-US" sz="1200" dirty="0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771A453-EDF9-7990-9C10-A36E4C4375EB}"/>
              </a:ext>
            </a:extLst>
          </p:cNvPr>
          <p:cNvSpPr/>
          <p:nvPr/>
        </p:nvSpPr>
        <p:spPr>
          <a:xfrm>
            <a:off x="479425" y="3363696"/>
            <a:ext cx="2044965" cy="160293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브랜드영상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스토리</a:t>
            </a: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공지사항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보도자료 </a:t>
            </a:r>
            <a:endParaRPr kumimoji="1"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8050D3B-57F0-F54B-137A-26008E390320}"/>
              </a:ext>
            </a:extLst>
          </p:cNvPr>
          <p:cNvSpPr/>
          <p:nvPr/>
        </p:nvSpPr>
        <p:spPr>
          <a:xfrm>
            <a:off x="2667345" y="3366344"/>
            <a:ext cx="2143537" cy="160293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객실 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골프 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온천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 err="1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다이닝</a:t>
            </a: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_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패키지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예약 안내 및 취소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이벤트</a:t>
            </a: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/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프로모션 안내  </a:t>
            </a:r>
            <a:endParaRPr kumimoji="1"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A8E52896-6EEB-50FA-F11A-EE83A08BE7C3}"/>
              </a:ext>
            </a:extLst>
          </p:cNvPr>
          <p:cNvSpPr/>
          <p:nvPr/>
        </p:nvSpPr>
        <p:spPr>
          <a:xfrm>
            <a:off x="4982554" y="3364931"/>
            <a:ext cx="2143539" cy="160293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lvl="0" fontAlgn="b">
              <a:lnSpc>
                <a:spcPct val="125000"/>
              </a:lnSpc>
              <a:spcBef>
                <a:spcPct val="80000"/>
              </a:spcBef>
              <a:buSzPct val="70000"/>
              <a:defRPr/>
            </a:pP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객실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골프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설해온천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다이닝 소개  </a:t>
            </a:r>
            <a:endParaRPr kumimoji="1"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1A84193-662A-5D78-4C1D-B87016D7FABE}"/>
              </a:ext>
            </a:extLst>
          </p:cNvPr>
          <p:cNvSpPr/>
          <p:nvPr/>
        </p:nvSpPr>
        <p:spPr>
          <a:xfrm>
            <a:off x="479425" y="2583918"/>
            <a:ext cx="2044965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소개 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66DEEC5-AE15-0232-27C6-5889DE568773}"/>
              </a:ext>
            </a:extLst>
          </p:cNvPr>
          <p:cNvSpPr/>
          <p:nvPr/>
        </p:nvSpPr>
        <p:spPr>
          <a:xfrm>
            <a:off x="2675274" y="2586566"/>
            <a:ext cx="2143537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예약</a:t>
            </a:r>
            <a:r>
              <a:rPr kumimoji="1"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구분</a:t>
            </a:r>
            <a:r>
              <a:rPr kumimoji="1"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kumimoji="1"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endParaRPr kumimoji="1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0B02F437-5AA2-1328-9FAC-8A3B9EB57DBD}"/>
              </a:ext>
            </a:extLst>
          </p:cNvPr>
          <p:cNvSpPr/>
          <p:nvPr/>
        </p:nvSpPr>
        <p:spPr>
          <a:xfrm>
            <a:off x="4961149" y="2568061"/>
            <a:ext cx="2143537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부대시설 소개</a:t>
            </a:r>
            <a:br>
              <a:rPr kumimoji="1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(Service)</a:t>
            </a:r>
            <a:r>
              <a:rPr kumimoji="1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</a:p>
        </p:txBody>
      </p: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FBC92AF2-5F9B-4753-8D80-362BAF1E3D24}"/>
              </a:ext>
            </a:extLst>
          </p:cNvPr>
          <p:cNvCxnSpPr>
            <a:cxnSpLocks/>
          </p:cNvCxnSpPr>
          <p:nvPr/>
        </p:nvCxnSpPr>
        <p:spPr>
          <a:xfrm>
            <a:off x="855318" y="2362698"/>
            <a:ext cx="1004935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DD41CB4-378B-B691-07B3-849E1DF20865}"/>
              </a:ext>
            </a:extLst>
          </p:cNvPr>
          <p:cNvSpPr txBox="1"/>
          <p:nvPr/>
        </p:nvSpPr>
        <p:spPr>
          <a:xfrm>
            <a:off x="339449" y="128120"/>
            <a:ext cx="1088760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vl="0">
              <a:defRPr/>
            </a:pPr>
            <a:r>
              <a:rPr lang="ko-KR" altLang="en-US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업무 범위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BEE0B76-F2FB-4B2B-9ADA-45C779FBD984}"/>
              </a:ext>
            </a:extLst>
          </p:cNvPr>
          <p:cNvSpPr/>
          <p:nvPr/>
        </p:nvSpPr>
        <p:spPr>
          <a:xfrm>
            <a:off x="511197" y="673566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제공 서비스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71C8C3F-807A-4D48-A167-DFE85406DDA9}"/>
              </a:ext>
            </a:extLst>
          </p:cNvPr>
          <p:cNvCxnSpPr/>
          <p:nvPr/>
        </p:nvCxnSpPr>
        <p:spPr>
          <a:xfrm>
            <a:off x="649972" y="954324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제목 1">
            <a:extLst>
              <a:ext uri="{FF2B5EF4-FFF2-40B4-BE49-F238E27FC236}">
                <a16:creationId xmlns:a16="http://schemas.microsoft.com/office/drawing/2014/main" id="{7554DCA1-392D-4DEE-BE97-EDDE6AC76F13}"/>
              </a:ext>
            </a:extLst>
          </p:cNvPr>
          <p:cNvSpPr txBox="1">
            <a:spLocks/>
          </p:cNvSpPr>
          <p:nvPr/>
        </p:nvSpPr>
        <p:spPr>
          <a:xfrm>
            <a:off x="649972" y="1033599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설해원이 지향하는 가치 </a:t>
            </a:r>
            <a:r>
              <a:rPr lang="en-US" altLang="ko-KR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여유</a:t>
            </a:r>
            <a:r>
              <a:rPr lang="en-US" altLang="ko-KR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</a:t>
            </a: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자연</a:t>
            </a:r>
            <a:r>
              <a:rPr lang="en-US" altLang="ko-KR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</a:t>
            </a: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쉼</a:t>
            </a:r>
            <a:r>
              <a:rPr lang="en-US" altLang="ko-KR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에 대한 경험을 제공 해야함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변화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: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시스템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결제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도입 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+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가치의 확산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42" name="슬라이드 번호 개체 틀 8">
            <a:extLst>
              <a:ext uri="{FF2B5EF4-FFF2-40B4-BE49-F238E27FC236}">
                <a16:creationId xmlns:a16="http://schemas.microsoft.com/office/drawing/2014/main" id="{B9695E83-DC3F-44D0-A540-FBB15D26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472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 </a:t>
            </a:r>
            <a:fld id="{D5866FCA-0B87-40E1-9583-0E9C7650E22B}" type="slidenum">
              <a:rPr kumimoji="0" lang="ko-KR" altLang="en-US" sz="120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8D7A799-78DA-4365-BD84-34A7F0200EB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sp>
        <p:nvSpPr>
          <p:cNvPr id="40" name="제목 1">
            <a:extLst>
              <a:ext uri="{FF2B5EF4-FFF2-40B4-BE49-F238E27FC236}">
                <a16:creationId xmlns:a16="http://schemas.microsoft.com/office/drawing/2014/main" id="{BB771CCE-65F9-4CD3-A32F-112D51554259}"/>
              </a:ext>
            </a:extLst>
          </p:cNvPr>
          <p:cNvSpPr txBox="1">
            <a:spLocks/>
          </p:cNvSpPr>
          <p:nvPr/>
        </p:nvSpPr>
        <p:spPr>
          <a:xfrm>
            <a:off x="5317573" y="1545589"/>
            <a:ext cx="1826004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국어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영어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일어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중국어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6" name="제목 1">
            <a:extLst>
              <a:ext uri="{FF2B5EF4-FFF2-40B4-BE49-F238E27FC236}">
                <a16:creationId xmlns:a16="http://schemas.microsoft.com/office/drawing/2014/main" id="{FBEBF732-B0F6-48BD-A18E-6C4A4E271939}"/>
              </a:ext>
            </a:extLst>
          </p:cNvPr>
          <p:cNvSpPr txBox="1">
            <a:spLocks/>
          </p:cNvSpPr>
          <p:nvPr/>
        </p:nvSpPr>
        <p:spPr>
          <a:xfrm>
            <a:off x="5314777" y="1886302"/>
            <a:ext cx="5510311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검색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구분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예약일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옵션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|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로그인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|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회원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일반회원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온라인 회원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 -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마이페이지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  </a:t>
            </a:r>
          </a:p>
        </p:txBody>
      </p:sp>
      <p:sp>
        <p:nvSpPr>
          <p:cNvPr id="47" name="제목 1">
            <a:extLst>
              <a:ext uri="{FF2B5EF4-FFF2-40B4-BE49-F238E27FC236}">
                <a16:creationId xmlns:a16="http://schemas.microsoft.com/office/drawing/2014/main" id="{3960F79B-1A4D-4465-9D12-DDC485628899}"/>
              </a:ext>
            </a:extLst>
          </p:cNvPr>
          <p:cNvSpPr txBox="1">
            <a:spLocks/>
          </p:cNvSpPr>
          <p:nvPr/>
        </p:nvSpPr>
        <p:spPr>
          <a:xfrm>
            <a:off x="7221302" y="1543853"/>
            <a:ext cx="1826004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모바일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피시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* </a:t>
            </a: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앱 제외</a:t>
            </a:r>
            <a:endParaRPr lang="en-US" altLang="ko-KR" sz="1200" u="sng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7FBD7D97-5B95-4623-B17C-F05C683AEFA1}"/>
              </a:ext>
            </a:extLst>
          </p:cNvPr>
          <p:cNvCxnSpPr/>
          <p:nvPr/>
        </p:nvCxnSpPr>
        <p:spPr>
          <a:xfrm>
            <a:off x="8330587" y="3249486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6CD03B3-87CE-4722-A76C-A306B8298B88}"/>
              </a:ext>
            </a:extLst>
          </p:cNvPr>
          <p:cNvSpPr/>
          <p:nvPr/>
        </p:nvSpPr>
        <p:spPr>
          <a:xfrm>
            <a:off x="7260765" y="3327988"/>
            <a:ext cx="2143539" cy="160293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lvl="0" fontAlgn="b">
              <a:lnSpc>
                <a:spcPct val="125000"/>
              </a:lnSpc>
              <a:spcBef>
                <a:spcPct val="80000"/>
              </a:spcBef>
              <a:buSzPct val="70000"/>
              <a:defRPr/>
            </a:pP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웰니스</a:t>
            </a: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아트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액티비티 </a:t>
            </a: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설해랑</a:t>
            </a: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b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어메니티 </a:t>
            </a:r>
            <a:endParaRPr kumimoji="1"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35D42A3D-E780-45D2-88E7-F168E329037E}"/>
              </a:ext>
            </a:extLst>
          </p:cNvPr>
          <p:cNvSpPr/>
          <p:nvPr/>
        </p:nvSpPr>
        <p:spPr>
          <a:xfrm>
            <a:off x="7247906" y="2565302"/>
            <a:ext cx="2143537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체험</a:t>
            </a:r>
            <a:r>
              <a:rPr kumimoji="1"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/</a:t>
            </a:r>
            <a:r>
              <a:rPr kumimoji="1"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경험</a:t>
            </a:r>
            <a:br>
              <a:rPr kumimoji="1"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(Experience)</a:t>
            </a:r>
            <a:endParaRPr kumimoji="1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C98AD828-540E-4381-BD67-A0623042E9AB}"/>
              </a:ext>
            </a:extLst>
          </p:cNvPr>
          <p:cNvCxnSpPr/>
          <p:nvPr/>
        </p:nvCxnSpPr>
        <p:spPr>
          <a:xfrm>
            <a:off x="10904676" y="3249486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B062E96-D729-4BC3-B225-32186D465C3B}"/>
              </a:ext>
            </a:extLst>
          </p:cNvPr>
          <p:cNvSpPr/>
          <p:nvPr/>
        </p:nvSpPr>
        <p:spPr>
          <a:xfrm>
            <a:off x="9569931" y="3327988"/>
            <a:ext cx="2143539" cy="160293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lvl="0" fontAlgn="b">
              <a:spcBef>
                <a:spcPct val="80000"/>
              </a:spcBef>
              <a:buSzPct val="70000"/>
              <a:defRPr/>
            </a:pP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기프트카드</a:t>
            </a: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결제연동</a:t>
            </a: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b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생각</a:t>
            </a: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05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자사몰</a:t>
            </a:r>
            <a:r>
              <a:rPr kumimoji="1" lang="en-US" altLang="ko-KR" sz="105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*)</a:t>
            </a:r>
            <a:b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클리프 </a:t>
            </a:r>
            <a:b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서울</a:t>
            </a:r>
            <a:b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회원모집</a:t>
            </a:r>
            <a:b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05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맵   </a:t>
            </a:r>
            <a:endParaRPr kumimoji="1" lang="en-US" altLang="ko-KR" sz="105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0CDF26B-92C2-4222-A151-2AA5B16AD11C}"/>
              </a:ext>
            </a:extLst>
          </p:cNvPr>
          <p:cNvSpPr/>
          <p:nvPr/>
        </p:nvSpPr>
        <p:spPr>
          <a:xfrm>
            <a:off x="9557072" y="2565302"/>
            <a:ext cx="2143537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dirty="0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기타 </a:t>
            </a:r>
            <a:endParaRPr kumimoji="1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57" name="제목 1">
            <a:extLst>
              <a:ext uri="{FF2B5EF4-FFF2-40B4-BE49-F238E27FC236}">
                <a16:creationId xmlns:a16="http://schemas.microsoft.com/office/drawing/2014/main" id="{C091C8FD-FCD7-42B9-B3A4-ECD945693901}"/>
              </a:ext>
            </a:extLst>
          </p:cNvPr>
          <p:cNvSpPr txBox="1">
            <a:spLocks/>
          </p:cNvSpPr>
          <p:nvPr/>
        </p:nvSpPr>
        <p:spPr>
          <a:xfrm>
            <a:off x="7689788" y="6159820"/>
            <a:ext cx="4417136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CS 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이용약관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개인정보 처리방침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사업자 정보 링크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 SNS 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4953F7B2-7E59-4A39-95F4-66794B22A8EE}"/>
              </a:ext>
            </a:extLst>
          </p:cNvPr>
          <p:cNvCxnSpPr>
            <a:cxnSpLocks/>
          </p:cNvCxnSpPr>
          <p:nvPr/>
        </p:nvCxnSpPr>
        <p:spPr>
          <a:xfrm>
            <a:off x="6096000" y="2362888"/>
            <a:ext cx="0" cy="221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D3BF408-3C4E-404D-8B55-FB3F1A350EEE}"/>
              </a:ext>
            </a:extLst>
          </p:cNvPr>
          <p:cNvCxnSpPr>
            <a:cxnSpLocks/>
          </p:cNvCxnSpPr>
          <p:nvPr/>
        </p:nvCxnSpPr>
        <p:spPr>
          <a:xfrm>
            <a:off x="8333436" y="2377385"/>
            <a:ext cx="0" cy="221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5DD94C2-169F-4A1B-86E4-2D7180EEEC94}"/>
              </a:ext>
            </a:extLst>
          </p:cNvPr>
          <p:cNvCxnSpPr>
            <a:cxnSpLocks/>
          </p:cNvCxnSpPr>
          <p:nvPr/>
        </p:nvCxnSpPr>
        <p:spPr>
          <a:xfrm>
            <a:off x="10897417" y="2344272"/>
            <a:ext cx="0" cy="2210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3CA142F-AB7D-4CCC-BC4D-056D8F9240EC}"/>
              </a:ext>
            </a:extLst>
          </p:cNvPr>
          <p:cNvSpPr/>
          <p:nvPr/>
        </p:nvSpPr>
        <p:spPr>
          <a:xfrm>
            <a:off x="643117" y="5077033"/>
            <a:ext cx="157108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BRAND Experience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Content </a:t>
            </a:r>
            <a:endParaRPr kumimoji="0" lang="ko-KR" altLang="en-US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EB338127-A979-437B-9316-EEDA03D9687B}"/>
              </a:ext>
            </a:extLst>
          </p:cNvPr>
          <p:cNvSpPr/>
          <p:nvPr/>
        </p:nvSpPr>
        <p:spPr>
          <a:xfrm>
            <a:off x="2709952" y="5047525"/>
            <a:ext cx="157108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Usability &amp; Functions &amp;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Benefit </a:t>
            </a:r>
            <a:endParaRPr kumimoji="0" lang="ko-KR" altLang="en-US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BF2999-E818-4263-841F-151334CDAA76}"/>
              </a:ext>
            </a:extLst>
          </p:cNvPr>
          <p:cNvSpPr/>
          <p:nvPr/>
        </p:nvSpPr>
        <p:spPr>
          <a:xfrm>
            <a:off x="5127674" y="5047525"/>
            <a:ext cx="157108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Information &amp;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Experience Content 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82AA5BC3-973B-4016-B364-0D5426A94C89}"/>
              </a:ext>
            </a:extLst>
          </p:cNvPr>
          <p:cNvSpPr/>
          <p:nvPr/>
        </p:nvSpPr>
        <p:spPr>
          <a:xfrm>
            <a:off x="7348760" y="5047525"/>
            <a:ext cx="1571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Experience Content 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8AE0F1DA-C5D2-40A8-B283-3F5228BBF501}"/>
              </a:ext>
            </a:extLst>
          </p:cNvPr>
          <p:cNvSpPr/>
          <p:nvPr/>
        </p:nvSpPr>
        <p:spPr>
          <a:xfrm>
            <a:off x="9638297" y="4976087"/>
            <a:ext cx="1571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Other link &amp;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1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Functions </a:t>
            </a:r>
          </a:p>
        </p:txBody>
      </p:sp>
    </p:spTree>
    <p:extLst>
      <p:ext uri="{BB962C8B-B14F-4D97-AF65-F5344CB8AC3E}">
        <p14:creationId xmlns:p14="http://schemas.microsoft.com/office/powerpoint/2010/main" val="1214514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2B265A85-7F81-4133-9F36-CB2804A17079}"/>
              </a:ext>
            </a:extLst>
          </p:cNvPr>
          <p:cNvCxnSpPr>
            <a:cxnSpLocks/>
          </p:cNvCxnSpPr>
          <p:nvPr/>
        </p:nvCxnSpPr>
        <p:spPr>
          <a:xfrm>
            <a:off x="3712166" y="3280356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78C6AEBC-F86E-4F1D-96D2-5525BECA7D9E}"/>
              </a:ext>
            </a:extLst>
          </p:cNvPr>
          <p:cNvCxnSpPr/>
          <p:nvPr/>
        </p:nvCxnSpPr>
        <p:spPr>
          <a:xfrm>
            <a:off x="893530" y="3244706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6CF3B3EA-A946-4A1D-941B-0BC240676869}"/>
              </a:ext>
            </a:extLst>
          </p:cNvPr>
          <p:cNvCxnSpPr/>
          <p:nvPr/>
        </p:nvCxnSpPr>
        <p:spPr>
          <a:xfrm>
            <a:off x="6103927" y="3280355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EFF5B55-2BA9-F52E-796F-44225E335039}"/>
              </a:ext>
            </a:extLst>
          </p:cNvPr>
          <p:cNvSpPr/>
          <p:nvPr/>
        </p:nvSpPr>
        <p:spPr>
          <a:xfrm>
            <a:off x="479425" y="1418431"/>
            <a:ext cx="4686629" cy="622142"/>
          </a:xfrm>
          <a:prstGeom prst="roundRect">
            <a:avLst/>
          </a:prstGeom>
          <a:solidFill>
            <a:srgbClr val="A574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설해원 </a:t>
            </a:r>
            <a:b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설악산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說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과 동해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海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를 품은 쉼의 정원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園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)’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771A453-EDF9-7990-9C10-A36E4C4375EB}"/>
              </a:ext>
            </a:extLst>
          </p:cNvPr>
          <p:cNvSpPr/>
          <p:nvPr/>
        </p:nvSpPr>
        <p:spPr>
          <a:xfrm>
            <a:off x="479425" y="3363697"/>
            <a:ext cx="2044965" cy="14318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원하는 것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(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휴식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운동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.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휴가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회사 행사 등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비용 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일정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인원 수 </a:t>
            </a:r>
            <a:endParaRPr kumimoji="1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38050D3B-57F0-F54B-137A-26008E390320}"/>
              </a:ext>
            </a:extLst>
          </p:cNvPr>
          <p:cNvSpPr/>
          <p:nvPr/>
        </p:nvSpPr>
        <p:spPr>
          <a:xfrm>
            <a:off x="2667345" y="3366345"/>
            <a:ext cx="2143537" cy="14318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객실 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골프 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온천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다이닝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_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패키지</a:t>
            </a:r>
            <a:endParaRPr kumimoji="1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A8E52896-6EEB-50FA-F11A-EE83A08BE7C3}"/>
              </a:ext>
            </a:extLst>
          </p:cNvPr>
          <p:cNvSpPr/>
          <p:nvPr/>
        </p:nvSpPr>
        <p:spPr>
          <a:xfrm>
            <a:off x="4982554" y="3364932"/>
            <a:ext cx="1861735" cy="14318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객실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골프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설해 온천</a:t>
            </a:r>
            <a:b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</a:b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다이닝 소개  </a:t>
            </a:r>
            <a:endParaRPr kumimoji="1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1A84193-662A-5D78-4C1D-B87016D7FABE}"/>
              </a:ext>
            </a:extLst>
          </p:cNvPr>
          <p:cNvSpPr/>
          <p:nvPr/>
        </p:nvSpPr>
        <p:spPr>
          <a:xfrm>
            <a:off x="479425" y="2583918"/>
            <a:ext cx="2044965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Wants  &gt;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66DEEC5-AE15-0232-27C6-5889DE568773}"/>
              </a:ext>
            </a:extLst>
          </p:cNvPr>
          <p:cNvSpPr/>
          <p:nvPr/>
        </p:nvSpPr>
        <p:spPr>
          <a:xfrm>
            <a:off x="2675274" y="2586566"/>
            <a:ext cx="2143537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Presentation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for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Customer  &gt;</a:t>
            </a:r>
            <a:endParaRPr kumimoji="1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0B02F437-5AA2-1328-9FAC-8A3B9EB57DBD}"/>
              </a:ext>
            </a:extLst>
          </p:cNvPr>
          <p:cNvSpPr/>
          <p:nvPr/>
        </p:nvSpPr>
        <p:spPr>
          <a:xfrm>
            <a:off x="4961149" y="2568061"/>
            <a:ext cx="1861733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예약 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&gt;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D41CB4-378B-B691-07B3-849E1DF20865}"/>
              </a:ext>
            </a:extLst>
          </p:cNvPr>
          <p:cNvSpPr txBox="1"/>
          <p:nvPr/>
        </p:nvSpPr>
        <p:spPr>
          <a:xfrm>
            <a:off x="339449" y="128120"/>
            <a:ext cx="1088760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t>업무 범위 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BEE0B76-F2FB-4B2B-9ADA-45C779FBD984}"/>
              </a:ext>
            </a:extLst>
          </p:cNvPr>
          <p:cNvSpPr/>
          <p:nvPr/>
        </p:nvSpPr>
        <p:spPr>
          <a:xfrm>
            <a:off x="511197" y="673566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 프로세스 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71C8C3F-807A-4D48-A167-DFE85406DDA9}"/>
              </a:ext>
            </a:extLst>
          </p:cNvPr>
          <p:cNvCxnSpPr/>
          <p:nvPr/>
        </p:nvCxnSpPr>
        <p:spPr>
          <a:xfrm>
            <a:off x="649972" y="954324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제목 1">
            <a:extLst>
              <a:ext uri="{FF2B5EF4-FFF2-40B4-BE49-F238E27FC236}">
                <a16:creationId xmlns:a16="http://schemas.microsoft.com/office/drawing/2014/main" id="{7554DCA1-392D-4DEE-BE97-EDDE6AC76F13}"/>
              </a:ext>
            </a:extLst>
          </p:cNvPr>
          <p:cNvSpPr txBox="1">
            <a:spLocks/>
          </p:cNvSpPr>
          <p:nvPr/>
        </p:nvSpPr>
        <p:spPr>
          <a:xfrm>
            <a:off x="649972" y="1033599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구축 범위 </a:t>
            </a:r>
            <a:r>
              <a:rPr kumimoji="0" lang="en-US" altLang="ko-KR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웹</a:t>
            </a:r>
            <a:r>
              <a:rPr kumimoji="0" lang="en-US" altLang="ko-KR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앱</a:t>
            </a:r>
            <a:r>
              <a:rPr kumimoji="0" lang="en-US" altLang="ko-KR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r>
              <a:rPr kumimoji="0" lang="ko-KR" altLang="en-US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 </a:t>
            </a:r>
            <a:r>
              <a:rPr kumimoji="0" lang="ko-KR" altLang="en-US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인프라 환경</a:t>
            </a:r>
            <a:r>
              <a:rPr kumimoji="0" lang="en-US" altLang="ko-KR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/ </a:t>
            </a:r>
            <a:r>
              <a:rPr kumimoji="0" lang="ko-KR" altLang="en-US" sz="1200" b="0" i="0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개발일정 </a:t>
            </a:r>
            <a:endParaRPr kumimoji="0" lang="en-US" altLang="ko-KR" sz="1200" b="0" i="0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2" name="슬라이드 번호 개체 틀 8">
            <a:extLst>
              <a:ext uri="{FF2B5EF4-FFF2-40B4-BE49-F238E27FC236}">
                <a16:creationId xmlns:a16="http://schemas.microsoft.com/office/drawing/2014/main" id="{B9695E83-DC3F-44D0-A540-FBB15D26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472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t>/ </a:t>
            </a:r>
            <a:fld id="{D5866FCA-0B87-40E1-9583-0E9C7650E22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+mn-cs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8D7A799-78DA-4365-BD84-34A7F0200EB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7FBD7D97-5B95-4623-B17C-F05C683AEFA1}"/>
              </a:ext>
            </a:extLst>
          </p:cNvPr>
          <p:cNvCxnSpPr/>
          <p:nvPr/>
        </p:nvCxnSpPr>
        <p:spPr>
          <a:xfrm>
            <a:off x="8019094" y="3281452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96CD03B3-87CE-4722-A76C-A306B8298B88}"/>
              </a:ext>
            </a:extLst>
          </p:cNvPr>
          <p:cNvSpPr/>
          <p:nvPr/>
        </p:nvSpPr>
        <p:spPr>
          <a:xfrm>
            <a:off x="6949272" y="3359955"/>
            <a:ext cx="1899999" cy="14318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다양한 결제 방식 제공 </a:t>
            </a:r>
            <a:endParaRPr kumimoji="1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35D42A3D-E780-45D2-88E7-F168E329037E}"/>
              </a:ext>
            </a:extLst>
          </p:cNvPr>
          <p:cNvSpPr/>
          <p:nvPr/>
        </p:nvSpPr>
        <p:spPr>
          <a:xfrm>
            <a:off x="6936413" y="2597268"/>
            <a:ext cx="1899997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결제 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&gt;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C98AD828-540E-4381-BD67-A0623042E9AB}"/>
              </a:ext>
            </a:extLst>
          </p:cNvPr>
          <p:cNvCxnSpPr/>
          <p:nvPr/>
        </p:nvCxnSpPr>
        <p:spPr>
          <a:xfrm>
            <a:off x="10292243" y="3282977"/>
            <a:ext cx="3964" cy="4420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FB062E96-D729-4BC3-B225-32186D465C3B}"/>
              </a:ext>
            </a:extLst>
          </p:cNvPr>
          <p:cNvSpPr/>
          <p:nvPr/>
        </p:nvSpPr>
        <p:spPr>
          <a:xfrm>
            <a:off x="8974751" y="3361480"/>
            <a:ext cx="2041592" cy="14318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l" defTabSz="914400" rtl="0" eaLnBrk="1" fontAlgn="b" latinLnBrk="1" hangingPunct="1">
              <a:lnSpc>
                <a:spcPct val="100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-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예약 확인 </a:t>
            </a:r>
            <a:r>
              <a:rPr kumimoji="1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&amp; </a:t>
            </a: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커뮤니케이션 </a:t>
            </a:r>
            <a:endParaRPr kumimoji="1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10CDF26B-92C2-4222-A151-2AA5B16AD11C}"/>
              </a:ext>
            </a:extLst>
          </p:cNvPr>
          <p:cNvSpPr/>
          <p:nvPr/>
        </p:nvSpPr>
        <p:spPr>
          <a:xfrm>
            <a:off x="8961891" y="2598793"/>
            <a:ext cx="1992121" cy="698416"/>
          </a:xfrm>
          <a:prstGeom prst="roundRect">
            <a:avLst/>
          </a:prstGeom>
          <a:solidFill>
            <a:schemeClr val="tx1"/>
          </a:solidFill>
          <a:ln w="12700" algn="ctr">
            <a:noFill/>
            <a:miter lim="800000"/>
            <a:headEnd/>
            <a:tailEnd/>
          </a:ln>
          <a:effectLst/>
        </p:spPr>
        <p:txBody>
          <a:bodyPr lIns="0" tIns="0" rIns="0" bIns="0" anchor="ctr">
            <a:noAutofit/>
          </a:bodyPr>
          <a:lstStyle/>
          <a:p>
            <a:pPr marL="0" marR="0" lvl="0" indent="0" algn="ctr" defTabSz="914400" rtl="0" eaLnBrk="1" fontAlgn="b" latinLnBrk="1" hangingPunct="1">
              <a:lnSpc>
                <a:spcPct val="125000"/>
              </a:lnSpc>
              <a:spcBef>
                <a:spcPct val="80000"/>
              </a:spcBef>
              <a:spcAft>
                <a:spcPts val="0"/>
              </a:spcAft>
              <a:buClrTx/>
              <a:buSzPct val="70000"/>
              <a:buFontTx/>
              <a:buNone/>
              <a:tabLst/>
              <a:defRPr/>
            </a:pPr>
            <a:r>
              <a:rPr kumimoji="1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예약 확인 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3CA142F-AB7D-4CCC-BC4D-056D8F9240EC}"/>
              </a:ext>
            </a:extLst>
          </p:cNvPr>
          <p:cNvSpPr/>
          <p:nvPr/>
        </p:nvSpPr>
        <p:spPr>
          <a:xfrm>
            <a:off x="643117" y="5035088"/>
            <a:ext cx="18812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회원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/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비회원 예약   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EB338127-A979-437B-9316-EEDA03D9687B}"/>
              </a:ext>
            </a:extLst>
          </p:cNvPr>
          <p:cNvSpPr/>
          <p:nvPr/>
        </p:nvSpPr>
        <p:spPr>
          <a:xfrm>
            <a:off x="2709952" y="5005580"/>
            <a:ext cx="21009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각 서비스별 옵션 제공 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A8BF2999-E818-4263-841F-151334CDAA76}"/>
              </a:ext>
            </a:extLst>
          </p:cNvPr>
          <p:cNvSpPr/>
          <p:nvPr/>
        </p:nvSpPr>
        <p:spPr>
          <a:xfrm>
            <a:off x="5127674" y="5005580"/>
            <a:ext cx="15710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해당 옵션 별 가격 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스페셜 패키지 제안 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82AA5BC3-973B-4016-B364-0D5426A94C89}"/>
              </a:ext>
            </a:extLst>
          </p:cNvPr>
          <p:cNvSpPr/>
          <p:nvPr/>
        </p:nvSpPr>
        <p:spPr>
          <a:xfrm>
            <a:off x="6936413" y="4967481"/>
            <a:ext cx="2289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결제 솔루션 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(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카드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/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페이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)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8AE0F1DA-C5D2-40A8-B283-3F5228BBF501}"/>
              </a:ext>
            </a:extLst>
          </p:cNvPr>
          <p:cNvSpPr/>
          <p:nvPr/>
        </p:nvSpPr>
        <p:spPr>
          <a:xfrm>
            <a:off x="9105757" y="4905993"/>
            <a:ext cx="19105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예약 확인 및 고객 관리 </a:t>
            </a:r>
            <a:endParaRPr kumimoji="0" lang="en-US" altLang="ko-KR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31" name="제목 1">
            <a:extLst>
              <a:ext uri="{FF2B5EF4-FFF2-40B4-BE49-F238E27FC236}">
                <a16:creationId xmlns:a16="http://schemas.microsoft.com/office/drawing/2014/main" id="{867DECD4-527A-48E2-9668-B1F9EFC46A20}"/>
              </a:ext>
            </a:extLst>
          </p:cNvPr>
          <p:cNvSpPr txBox="1">
            <a:spLocks/>
          </p:cNvSpPr>
          <p:nvPr/>
        </p:nvSpPr>
        <p:spPr>
          <a:xfrm>
            <a:off x="479425" y="2151319"/>
            <a:ext cx="770535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회원가입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2" name="제목 1">
            <a:extLst>
              <a:ext uri="{FF2B5EF4-FFF2-40B4-BE49-F238E27FC236}">
                <a16:creationId xmlns:a16="http://schemas.microsoft.com/office/drawing/2014/main" id="{192431FD-81AB-4DAC-95EC-504042E0B806}"/>
              </a:ext>
            </a:extLst>
          </p:cNvPr>
          <p:cNvSpPr txBox="1">
            <a:spLocks/>
          </p:cNvSpPr>
          <p:nvPr/>
        </p:nvSpPr>
        <p:spPr>
          <a:xfrm>
            <a:off x="1297819" y="2146543"/>
            <a:ext cx="770535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로그인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3" name="제목 1">
            <a:extLst>
              <a:ext uri="{FF2B5EF4-FFF2-40B4-BE49-F238E27FC236}">
                <a16:creationId xmlns:a16="http://schemas.microsoft.com/office/drawing/2014/main" id="{8DE58BE9-A988-4177-9D77-5B510A45F47C}"/>
              </a:ext>
            </a:extLst>
          </p:cNvPr>
          <p:cNvSpPr txBox="1">
            <a:spLocks/>
          </p:cNvSpPr>
          <p:nvPr/>
        </p:nvSpPr>
        <p:spPr>
          <a:xfrm>
            <a:off x="2096172" y="2147941"/>
            <a:ext cx="770535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검색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9669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EFF5B55-2BA9-F52E-796F-44225E335039}"/>
              </a:ext>
            </a:extLst>
          </p:cNvPr>
          <p:cNvSpPr/>
          <p:nvPr/>
        </p:nvSpPr>
        <p:spPr>
          <a:xfrm>
            <a:off x="479425" y="1544619"/>
            <a:ext cx="11163935" cy="622142"/>
          </a:xfrm>
          <a:prstGeom prst="roundRect">
            <a:avLst/>
          </a:prstGeom>
          <a:solidFill>
            <a:srgbClr val="A574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Ex. Persona1 -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가족 여행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수도권 거주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 40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대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초반 부부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아이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1~2 , 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연 </a:t>
            </a:r>
            <a:r>
              <a:rPr kumimoji="0" lang="en-US" altLang="ko-KR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2~3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2" charset="-127"/>
              </a:rPr>
              <a:t>회 휴식형 여행 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D41CB4-378B-B691-07B3-849E1DF20865}"/>
              </a:ext>
            </a:extLst>
          </p:cNvPr>
          <p:cNvSpPr txBox="1"/>
          <p:nvPr/>
        </p:nvSpPr>
        <p:spPr>
          <a:xfrm>
            <a:off x="339449" y="128120"/>
            <a:ext cx="1680268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t>서비스 시나리오 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BEE0B76-F2FB-4B2B-9ADA-45C779FBD984}"/>
              </a:ext>
            </a:extLst>
          </p:cNvPr>
          <p:cNvSpPr/>
          <p:nvPr/>
        </p:nvSpPr>
        <p:spPr>
          <a:xfrm>
            <a:off x="511197" y="673566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타겟 고객별 요구사항 확인 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71C8C3F-807A-4D48-A167-DFE85406DDA9}"/>
              </a:ext>
            </a:extLst>
          </p:cNvPr>
          <p:cNvCxnSpPr/>
          <p:nvPr/>
        </p:nvCxnSpPr>
        <p:spPr>
          <a:xfrm>
            <a:off x="649972" y="954324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슬라이드 번호 개체 틀 8">
            <a:extLst>
              <a:ext uri="{FF2B5EF4-FFF2-40B4-BE49-F238E27FC236}">
                <a16:creationId xmlns:a16="http://schemas.microsoft.com/office/drawing/2014/main" id="{B9695E83-DC3F-44D0-A540-FBB15D26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472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t>/ </a:t>
            </a:r>
            <a:fld id="{D5866FCA-0B87-40E1-9583-0E9C7650E22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+mn-cs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8D7A799-78DA-4365-BD84-34A7F0200EB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sp>
        <p:nvSpPr>
          <p:cNvPr id="40" name="제목 1">
            <a:extLst>
              <a:ext uri="{FF2B5EF4-FFF2-40B4-BE49-F238E27FC236}">
                <a16:creationId xmlns:a16="http://schemas.microsoft.com/office/drawing/2014/main" id="{BB771CCE-65F9-4CD3-A32F-112D51554259}"/>
              </a:ext>
            </a:extLst>
          </p:cNvPr>
          <p:cNvSpPr txBox="1">
            <a:spLocks/>
          </p:cNvSpPr>
          <p:nvPr/>
        </p:nvSpPr>
        <p:spPr>
          <a:xfrm>
            <a:off x="513993" y="2516289"/>
            <a:ext cx="1826004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편안하고 안전한 숙소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6" name="제목 1">
            <a:extLst>
              <a:ext uri="{FF2B5EF4-FFF2-40B4-BE49-F238E27FC236}">
                <a16:creationId xmlns:a16="http://schemas.microsoft.com/office/drawing/2014/main" id="{FBEBF732-B0F6-48BD-A18E-6C4A4E271939}"/>
              </a:ext>
            </a:extLst>
          </p:cNvPr>
          <p:cNvSpPr txBox="1">
            <a:spLocks/>
          </p:cNvSpPr>
          <p:nvPr/>
        </p:nvSpPr>
        <p:spPr>
          <a:xfrm>
            <a:off x="511197" y="2857002"/>
            <a:ext cx="2136771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부모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스파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온천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조식 제공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7" name="제목 1">
            <a:extLst>
              <a:ext uri="{FF2B5EF4-FFF2-40B4-BE49-F238E27FC236}">
                <a16:creationId xmlns:a16="http://schemas.microsoft.com/office/drawing/2014/main" id="{3960F79B-1A4D-4465-9D12-DDC485628899}"/>
              </a:ext>
            </a:extLst>
          </p:cNvPr>
          <p:cNvSpPr txBox="1">
            <a:spLocks/>
          </p:cNvSpPr>
          <p:nvPr/>
        </p:nvSpPr>
        <p:spPr>
          <a:xfrm>
            <a:off x="2417722" y="2514553"/>
            <a:ext cx="2450932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자녀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키즈존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아이들 놀이시설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4" name="제목 1">
            <a:extLst>
              <a:ext uri="{FF2B5EF4-FFF2-40B4-BE49-F238E27FC236}">
                <a16:creationId xmlns:a16="http://schemas.microsoft.com/office/drawing/2014/main" id="{40BD9085-AD80-4203-A4E2-3F9C820AE58E}"/>
              </a:ext>
            </a:extLst>
          </p:cNvPr>
          <p:cNvSpPr txBox="1">
            <a:spLocks/>
          </p:cNvSpPr>
          <p:nvPr/>
        </p:nvSpPr>
        <p:spPr>
          <a:xfrm>
            <a:off x="2720382" y="2857002"/>
            <a:ext cx="2136771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합리적 가격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패키지 여부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5" name="제목 1">
            <a:extLst>
              <a:ext uri="{FF2B5EF4-FFF2-40B4-BE49-F238E27FC236}">
                <a16:creationId xmlns:a16="http://schemas.microsoft.com/office/drawing/2014/main" id="{23E4687E-E31C-4BB9-9AF4-2C7DE46EA050}"/>
              </a:ext>
            </a:extLst>
          </p:cNvPr>
          <p:cNvSpPr txBox="1">
            <a:spLocks/>
          </p:cNvSpPr>
          <p:nvPr/>
        </p:nvSpPr>
        <p:spPr>
          <a:xfrm>
            <a:off x="470716" y="2207694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Needs &amp; Wants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48" name="제목 1">
            <a:extLst>
              <a:ext uri="{FF2B5EF4-FFF2-40B4-BE49-F238E27FC236}">
                <a16:creationId xmlns:a16="http://schemas.microsoft.com/office/drawing/2014/main" id="{2F5DE6EC-4907-4A55-960C-42638FB8E778}"/>
              </a:ext>
            </a:extLst>
          </p:cNvPr>
          <p:cNvSpPr txBox="1">
            <a:spLocks/>
          </p:cNvSpPr>
          <p:nvPr/>
        </p:nvSpPr>
        <p:spPr>
          <a:xfrm>
            <a:off x="6257757" y="2528887"/>
            <a:ext cx="2206389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사용자 리뷰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후기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시설 소개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5" name="제목 1">
            <a:extLst>
              <a:ext uri="{FF2B5EF4-FFF2-40B4-BE49-F238E27FC236}">
                <a16:creationId xmlns:a16="http://schemas.microsoft.com/office/drawing/2014/main" id="{24589E22-156C-492D-B058-92E26E1D1259}"/>
              </a:ext>
            </a:extLst>
          </p:cNvPr>
          <p:cNvSpPr txBox="1">
            <a:spLocks/>
          </p:cNvSpPr>
          <p:nvPr/>
        </p:nvSpPr>
        <p:spPr>
          <a:xfrm>
            <a:off x="6254962" y="2869600"/>
            <a:ext cx="2136771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교통 및 부대시설 이용 안내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6" name="제목 1">
            <a:extLst>
              <a:ext uri="{FF2B5EF4-FFF2-40B4-BE49-F238E27FC236}">
                <a16:creationId xmlns:a16="http://schemas.microsoft.com/office/drawing/2014/main" id="{E655BE68-6E0B-4E46-A694-B57050500B6F}"/>
              </a:ext>
            </a:extLst>
          </p:cNvPr>
          <p:cNvSpPr txBox="1">
            <a:spLocks/>
          </p:cNvSpPr>
          <p:nvPr/>
        </p:nvSpPr>
        <p:spPr>
          <a:xfrm>
            <a:off x="8553379" y="2527151"/>
            <a:ext cx="2450932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추천 프로모션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가족 단위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58" name="제목 1">
            <a:extLst>
              <a:ext uri="{FF2B5EF4-FFF2-40B4-BE49-F238E27FC236}">
                <a16:creationId xmlns:a16="http://schemas.microsoft.com/office/drawing/2014/main" id="{D713ED31-F123-40DE-AB53-F9251164A1D6}"/>
              </a:ext>
            </a:extLst>
          </p:cNvPr>
          <p:cNvSpPr txBox="1">
            <a:spLocks/>
          </p:cNvSpPr>
          <p:nvPr/>
        </p:nvSpPr>
        <p:spPr>
          <a:xfrm>
            <a:off x="8464147" y="2869600"/>
            <a:ext cx="3327259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실시간 객실조회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간편 예약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취소 수수료 등 정보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67" name="제목 1">
            <a:extLst>
              <a:ext uri="{FF2B5EF4-FFF2-40B4-BE49-F238E27FC236}">
                <a16:creationId xmlns:a16="http://schemas.microsoft.com/office/drawing/2014/main" id="{E5406D33-ADB1-4907-88BD-14C9B981816F}"/>
              </a:ext>
            </a:extLst>
          </p:cNvPr>
          <p:cNvSpPr txBox="1">
            <a:spLocks/>
          </p:cNvSpPr>
          <p:nvPr/>
        </p:nvSpPr>
        <p:spPr>
          <a:xfrm>
            <a:off x="6214481" y="2220292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Supply </a:t>
            </a:r>
          </a:p>
        </p:txBody>
      </p:sp>
      <p:sp>
        <p:nvSpPr>
          <p:cNvPr id="69" name="제목 1">
            <a:extLst>
              <a:ext uri="{FF2B5EF4-FFF2-40B4-BE49-F238E27FC236}">
                <a16:creationId xmlns:a16="http://schemas.microsoft.com/office/drawing/2014/main" id="{DF5B5D23-367C-4192-BD78-61ABAB2EB7EA}"/>
              </a:ext>
            </a:extLst>
          </p:cNvPr>
          <p:cNvSpPr txBox="1">
            <a:spLocks/>
          </p:cNvSpPr>
          <p:nvPr/>
        </p:nvSpPr>
        <p:spPr>
          <a:xfrm>
            <a:off x="6254961" y="3197484"/>
            <a:ext cx="2136771" cy="28749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재방문을 위한 회원 혜택 등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3D02226-56EB-4E57-99EF-B6231E6C32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38"/>
          <a:stretch/>
        </p:blipFill>
        <p:spPr>
          <a:xfrm>
            <a:off x="3903954" y="3903001"/>
            <a:ext cx="3939071" cy="15764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4EEAD6D-75D4-4CBF-A561-46FE45E033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449" y="3921760"/>
            <a:ext cx="3491940" cy="90418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EFB1EEA4-3ADD-4468-9A14-B79F4DE0A7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192" y="3921760"/>
            <a:ext cx="3890045" cy="1721321"/>
          </a:xfrm>
          <a:prstGeom prst="rect">
            <a:avLst/>
          </a:prstGeom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15F6CA9-6C30-4EC3-8BA0-50046DA4FFCB}"/>
              </a:ext>
            </a:extLst>
          </p:cNvPr>
          <p:cNvCxnSpPr>
            <a:cxnSpLocks/>
          </p:cNvCxnSpPr>
          <p:nvPr/>
        </p:nvCxnSpPr>
        <p:spPr>
          <a:xfrm>
            <a:off x="511197" y="3608792"/>
            <a:ext cx="1128020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제목 1">
            <a:extLst>
              <a:ext uri="{FF2B5EF4-FFF2-40B4-BE49-F238E27FC236}">
                <a16:creationId xmlns:a16="http://schemas.microsoft.com/office/drawing/2014/main" id="{ACB8CE20-E2ED-42E6-8BD3-339FF7872F2C}"/>
              </a:ext>
            </a:extLst>
          </p:cNvPr>
          <p:cNvSpPr txBox="1">
            <a:spLocks/>
          </p:cNvSpPr>
          <p:nvPr/>
        </p:nvSpPr>
        <p:spPr>
          <a:xfrm>
            <a:off x="229763" y="3834732"/>
            <a:ext cx="11826504" cy="1808329"/>
          </a:xfrm>
          <a:prstGeom prst="rect">
            <a:avLst/>
          </a:prstGeom>
          <a:solidFill>
            <a:srgbClr val="D0CECE">
              <a:alpha val="50196"/>
            </a:srgbClr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54DCA1-392D-4DEE-BE97-EDDE6AC76F13}"/>
              </a:ext>
            </a:extLst>
          </p:cNvPr>
          <p:cNvSpPr txBox="1">
            <a:spLocks/>
          </p:cNvSpPr>
          <p:nvPr/>
        </p:nvSpPr>
        <p:spPr>
          <a:xfrm>
            <a:off x="527198" y="4877960"/>
            <a:ext cx="2985038" cy="287491"/>
          </a:xfrm>
          <a:prstGeom prst="rect">
            <a:avLst/>
          </a:prstGeom>
          <a:solidFill>
            <a:schemeClr val="tx1"/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테마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시설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별 추천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or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카테고리 분류 제공 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0" name="제목 1">
            <a:extLst>
              <a:ext uri="{FF2B5EF4-FFF2-40B4-BE49-F238E27FC236}">
                <a16:creationId xmlns:a16="http://schemas.microsoft.com/office/drawing/2014/main" id="{31EF80AC-6903-4CE6-9892-4E612C8688EE}"/>
              </a:ext>
            </a:extLst>
          </p:cNvPr>
          <p:cNvSpPr txBox="1">
            <a:spLocks/>
          </p:cNvSpPr>
          <p:nvPr/>
        </p:nvSpPr>
        <p:spPr>
          <a:xfrm>
            <a:off x="4650133" y="4877959"/>
            <a:ext cx="2985038" cy="287491"/>
          </a:xfrm>
          <a:prstGeom prst="rect">
            <a:avLst/>
          </a:prstGeom>
          <a:solidFill>
            <a:schemeClr val="tx1"/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예약의 편의성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날짜</a:t>
            </a:r>
            <a:r>
              <a:rPr lang="en-US" altLang="ko-KR" sz="1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시설</a:t>
            </a:r>
            <a:r>
              <a:rPr lang="en-US" altLang="ko-KR" sz="1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프로모션</a:t>
            </a:r>
            <a:r>
              <a:rPr lang="en-US" altLang="ko-KR" sz="1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1" name="제목 1">
            <a:extLst>
              <a:ext uri="{FF2B5EF4-FFF2-40B4-BE49-F238E27FC236}">
                <a16:creationId xmlns:a16="http://schemas.microsoft.com/office/drawing/2014/main" id="{DB91AC6A-4536-426A-8832-D77CC568045F}"/>
              </a:ext>
            </a:extLst>
          </p:cNvPr>
          <p:cNvSpPr txBox="1">
            <a:spLocks/>
          </p:cNvSpPr>
          <p:nvPr/>
        </p:nvSpPr>
        <p:spPr>
          <a:xfrm>
            <a:off x="8589204" y="4896646"/>
            <a:ext cx="2985038" cy="287491"/>
          </a:xfrm>
          <a:prstGeom prst="rect">
            <a:avLst/>
          </a:prstGeom>
          <a:solidFill>
            <a:schemeClr val="tx1"/>
          </a:solidFill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사용 후기 및 경험 제공 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2" name="제목 1">
            <a:extLst>
              <a:ext uri="{FF2B5EF4-FFF2-40B4-BE49-F238E27FC236}">
                <a16:creationId xmlns:a16="http://schemas.microsoft.com/office/drawing/2014/main" id="{6A429B9E-0038-4DCE-BD82-0BEF372B85A5}"/>
              </a:ext>
            </a:extLst>
          </p:cNvPr>
          <p:cNvSpPr txBox="1">
            <a:spLocks/>
          </p:cNvSpPr>
          <p:nvPr/>
        </p:nvSpPr>
        <p:spPr>
          <a:xfrm>
            <a:off x="649972" y="1033599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소비자의 상황</a:t>
            </a:r>
            <a:r>
              <a:rPr lang="en-US" altLang="ko-KR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페르소나 및 시나리오에 따른 메뉴 및 서비스 제공 정의</a:t>
            </a:r>
            <a:r>
              <a:rPr lang="en-US" altLang="ko-KR" sz="1200" u="sng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53" name="제목 1">
            <a:extLst>
              <a:ext uri="{FF2B5EF4-FFF2-40B4-BE49-F238E27FC236}">
                <a16:creationId xmlns:a16="http://schemas.microsoft.com/office/drawing/2014/main" id="{D82C0795-A721-4660-BC0C-929AED3F27AF}"/>
              </a:ext>
            </a:extLst>
          </p:cNvPr>
          <p:cNvSpPr txBox="1">
            <a:spLocks/>
          </p:cNvSpPr>
          <p:nvPr/>
        </p:nvSpPr>
        <p:spPr>
          <a:xfrm>
            <a:off x="1039316" y="5824401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71450" lvl="0" indent="-171450" algn="l">
              <a:lnSpc>
                <a:spcPct val="120000"/>
              </a:lnSpc>
              <a:buFont typeface="Arial" panose="020B0604020202020204" pitchFamily="34" charset="0"/>
              <a:buChar char="•"/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 및 서비스 이용에 대한 의사결정에 있어 고객의 상황에 맞는 커뮤니케이션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컨텐츠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 , </a:t>
            </a:r>
            <a:b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</a:b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 및 이용의 편의성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웹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모바일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다양한 결제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프로모션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사용자의 후기에 대한 리뷰가 필수적인 요소임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9786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DD41CB4-378B-B691-07B3-849E1DF20865}"/>
              </a:ext>
            </a:extLst>
          </p:cNvPr>
          <p:cNvSpPr txBox="1"/>
          <p:nvPr/>
        </p:nvSpPr>
        <p:spPr>
          <a:xfrm>
            <a:off x="339449" y="128120"/>
            <a:ext cx="1088760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이슈 체크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BEE0B76-F2FB-4B2B-9ADA-45C779FBD984}"/>
              </a:ext>
            </a:extLst>
          </p:cNvPr>
          <p:cNvSpPr/>
          <p:nvPr/>
        </p:nvSpPr>
        <p:spPr>
          <a:xfrm>
            <a:off x="746330" y="3299796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메뉴구조 및 콘텐츠 </a:t>
            </a: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71C8C3F-807A-4D48-A167-DFE85406DDA9}"/>
              </a:ext>
            </a:extLst>
          </p:cNvPr>
          <p:cNvCxnSpPr/>
          <p:nvPr/>
        </p:nvCxnSpPr>
        <p:spPr>
          <a:xfrm>
            <a:off x="885105" y="3580554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슬라이드 번호 개체 틀 8">
            <a:extLst>
              <a:ext uri="{FF2B5EF4-FFF2-40B4-BE49-F238E27FC236}">
                <a16:creationId xmlns:a16="http://schemas.microsoft.com/office/drawing/2014/main" id="{B9695E83-DC3F-44D0-A540-FBB15D26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472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t>/ </a:t>
            </a:r>
            <a:fld id="{D5866FCA-0B87-40E1-9583-0E9C7650E22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+mn-cs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8D7A799-78DA-4365-BD84-34A7F0200EB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sp>
        <p:nvSpPr>
          <p:cNvPr id="52" name="제목 1">
            <a:extLst>
              <a:ext uri="{FF2B5EF4-FFF2-40B4-BE49-F238E27FC236}">
                <a16:creationId xmlns:a16="http://schemas.microsoft.com/office/drawing/2014/main" id="{6A429B9E-0038-4DCE-BD82-0BEF372B85A5}"/>
              </a:ext>
            </a:extLst>
          </p:cNvPr>
          <p:cNvSpPr txBox="1">
            <a:spLocks/>
          </p:cNvSpPr>
          <p:nvPr/>
        </p:nvSpPr>
        <p:spPr>
          <a:xfrm>
            <a:off x="885105" y="3659829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설해원 소개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시설 및 서비스 안내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예약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고객 후기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/ CS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 등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62E23CD-E83F-43CD-A5C5-932B81683208}"/>
              </a:ext>
            </a:extLst>
          </p:cNvPr>
          <p:cNvSpPr/>
          <p:nvPr/>
        </p:nvSpPr>
        <p:spPr>
          <a:xfrm>
            <a:off x="746330" y="1527008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개발 환경 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3FE7ED8B-7F14-4421-9930-CF52F47B94B4}"/>
              </a:ext>
            </a:extLst>
          </p:cNvPr>
          <p:cNvCxnSpPr/>
          <p:nvPr/>
        </p:nvCxnSpPr>
        <p:spPr>
          <a:xfrm>
            <a:off x="885105" y="1807766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제목 1">
            <a:extLst>
              <a:ext uri="{FF2B5EF4-FFF2-40B4-BE49-F238E27FC236}">
                <a16:creationId xmlns:a16="http://schemas.microsoft.com/office/drawing/2014/main" id="{0A173994-827E-4B16-99E6-ACB7B9CD17D3}"/>
              </a:ext>
            </a:extLst>
          </p:cNvPr>
          <p:cNvSpPr txBox="1">
            <a:spLocks/>
          </p:cNvSpPr>
          <p:nvPr/>
        </p:nvSpPr>
        <p:spPr>
          <a:xfrm>
            <a:off x="885105" y="1887041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인프라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개발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플랫폼 및 언어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 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기존 시스템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(ERP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연동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)/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기타 시스템 연동 여부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E653D063-9E52-4E87-8888-D35140C080AC}"/>
              </a:ext>
            </a:extLst>
          </p:cNvPr>
          <p:cNvSpPr/>
          <p:nvPr/>
        </p:nvSpPr>
        <p:spPr>
          <a:xfrm>
            <a:off x="746330" y="2415282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개발 범위 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9AEEFB37-EFD2-4102-BCB2-6E04050C00B9}"/>
              </a:ext>
            </a:extLst>
          </p:cNvPr>
          <p:cNvCxnSpPr/>
          <p:nvPr/>
        </p:nvCxnSpPr>
        <p:spPr>
          <a:xfrm>
            <a:off x="885105" y="2696040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제목 1">
            <a:extLst>
              <a:ext uri="{FF2B5EF4-FFF2-40B4-BE49-F238E27FC236}">
                <a16:creationId xmlns:a16="http://schemas.microsoft.com/office/drawing/2014/main" id="{FCA9C84C-6D35-44C5-9532-C0B99A8F5B9D}"/>
              </a:ext>
            </a:extLst>
          </p:cNvPr>
          <p:cNvSpPr txBox="1">
            <a:spLocks/>
          </p:cNvSpPr>
          <p:nvPr/>
        </p:nvSpPr>
        <p:spPr>
          <a:xfrm>
            <a:off x="885105" y="2775315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웹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(PC/M,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반응형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–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탭 사용자 고려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앱 개발 여부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본 제안 범위에 미포함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327022E5-6C8F-4698-B75E-02FF9EBEF291}"/>
              </a:ext>
            </a:extLst>
          </p:cNvPr>
          <p:cNvSpPr/>
          <p:nvPr/>
        </p:nvSpPr>
        <p:spPr>
          <a:xfrm>
            <a:off x="785517" y="4150819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정책 정의 </a:t>
            </a: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024718-0151-4806-B7BA-A704AE895765}"/>
              </a:ext>
            </a:extLst>
          </p:cNvPr>
          <p:cNvCxnSpPr/>
          <p:nvPr/>
        </p:nvCxnSpPr>
        <p:spPr>
          <a:xfrm>
            <a:off x="924292" y="4431577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제목 1">
            <a:extLst>
              <a:ext uri="{FF2B5EF4-FFF2-40B4-BE49-F238E27FC236}">
                <a16:creationId xmlns:a16="http://schemas.microsoft.com/office/drawing/2014/main" id="{5B5FA260-2E55-4345-8283-EFB30322E135}"/>
              </a:ext>
            </a:extLst>
          </p:cNvPr>
          <p:cNvSpPr txBox="1">
            <a:spLocks/>
          </p:cNvSpPr>
          <p:nvPr/>
        </p:nvSpPr>
        <p:spPr>
          <a:xfrm>
            <a:off x="924292" y="4510852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회원관리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프로모션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패키지 등 서비스 정책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(ex.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할인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패키지 구성 등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)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확인 필요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61" name="제목 1">
            <a:extLst>
              <a:ext uri="{FF2B5EF4-FFF2-40B4-BE49-F238E27FC236}">
                <a16:creationId xmlns:a16="http://schemas.microsoft.com/office/drawing/2014/main" id="{181174AF-5327-460F-8523-EFA549ACAF5F}"/>
              </a:ext>
            </a:extLst>
          </p:cNvPr>
          <p:cNvSpPr txBox="1">
            <a:spLocks/>
          </p:cNvSpPr>
          <p:nvPr/>
        </p:nvSpPr>
        <p:spPr>
          <a:xfrm>
            <a:off x="649972" y="1033599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본 프로젝트를 위해 개발환경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및 개발범위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, </a:t>
            </a: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콘텐츠 수집 및 구분에 대한 정의가 필요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ADDAC44A-645D-41E1-B723-5DC975D08C8A}"/>
              </a:ext>
            </a:extLst>
          </p:cNvPr>
          <p:cNvSpPr/>
          <p:nvPr/>
        </p:nvSpPr>
        <p:spPr>
          <a:xfrm>
            <a:off x="785517" y="5029482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개발 일정 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17B4F032-B4BC-433B-8E8C-31F020D5DAD1}"/>
              </a:ext>
            </a:extLst>
          </p:cNvPr>
          <p:cNvCxnSpPr/>
          <p:nvPr/>
        </p:nvCxnSpPr>
        <p:spPr>
          <a:xfrm>
            <a:off x="924292" y="5310240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제목 1">
            <a:extLst>
              <a:ext uri="{FF2B5EF4-FFF2-40B4-BE49-F238E27FC236}">
                <a16:creationId xmlns:a16="http://schemas.microsoft.com/office/drawing/2014/main" id="{CA818898-D99F-46E8-A2CE-2593A341418E}"/>
              </a:ext>
            </a:extLst>
          </p:cNvPr>
          <p:cNvSpPr txBox="1">
            <a:spLocks/>
          </p:cNvSpPr>
          <p:nvPr/>
        </p:nvSpPr>
        <p:spPr>
          <a:xfrm>
            <a:off x="924292" y="5389515"/>
            <a:ext cx="778689" cy="287491"/>
          </a:xfrm>
          <a:prstGeom prst="rect">
            <a:avLst/>
          </a:prstGeom>
        </p:spPr>
        <p:txBody>
          <a:bodyPr vert="horz" wrap="none" lIns="91440" tIns="45720" rIns="91440" bIns="45720" rtlCol="0" anchor="t" anchorCtr="0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l">
              <a:lnSpc>
                <a:spcPct val="120000"/>
              </a:lnSpc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주요 이벤트 및 오픈 일정  </a:t>
            </a:r>
            <a:endParaRPr lang="en-US" altLang="ko-KR" sz="12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7450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DD41CB4-378B-B691-07B3-849E1DF20865}"/>
              </a:ext>
            </a:extLst>
          </p:cNvPr>
          <p:cNvSpPr txBox="1"/>
          <p:nvPr/>
        </p:nvSpPr>
        <p:spPr>
          <a:xfrm>
            <a:off x="339449" y="128120"/>
            <a:ext cx="1593706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vl="0">
              <a:defRPr/>
            </a:pP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별첨 </a:t>
            </a:r>
            <a:r>
              <a:rPr lang="en-US" altLang="ko-KR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요구사항 </a:t>
            </a:r>
            <a:endParaRPr lang="ko-KR" altLang="en-US" sz="16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BEE0B76-F2FB-4B2B-9ADA-45C779FBD984}"/>
              </a:ext>
            </a:extLst>
          </p:cNvPr>
          <p:cNvSpPr/>
          <p:nvPr/>
        </p:nvSpPr>
        <p:spPr>
          <a:xfrm>
            <a:off x="511197" y="673566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AS-IS Sitemap</a:t>
            </a:r>
            <a:endParaRPr kumimoji="0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71C8C3F-807A-4D48-A167-DFE85406DDA9}"/>
              </a:ext>
            </a:extLst>
          </p:cNvPr>
          <p:cNvCxnSpPr/>
          <p:nvPr/>
        </p:nvCxnSpPr>
        <p:spPr>
          <a:xfrm>
            <a:off x="649972" y="954324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슬라이드 번호 개체 틀 8">
            <a:extLst>
              <a:ext uri="{FF2B5EF4-FFF2-40B4-BE49-F238E27FC236}">
                <a16:creationId xmlns:a16="http://schemas.microsoft.com/office/drawing/2014/main" id="{B9695E83-DC3F-44D0-A540-FBB15D26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472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 </a:t>
            </a:r>
            <a:fld id="{D5866FCA-0B87-40E1-9583-0E9C7650E22B}" type="slidenum">
              <a:rPr kumimoji="0" lang="ko-KR" altLang="en-US" sz="120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8D7A799-78DA-4365-BD84-34A7F0200EB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sp>
        <p:nvSpPr>
          <p:cNvPr id="164" name="TextBox 93">
            <a:extLst>
              <a:ext uri="{FF2B5EF4-FFF2-40B4-BE49-F238E27FC236}">
                <a16:creationId xmlns:a16="http://schemas.microsoft.com/office/drawing/2014/main" id="{ABD16353-BC9C-4374-A380-F2B30BB2C3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9700" y="804132"/>
            <a:ext cx="1746250" cy="388938"/>
          </a:xfrm>
          <a:prstGeom prst="rect">
            <a:avLst/>
          </a:prstGeom>
          <a:solidFill>
            <a:srgbClr val="A57432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>
              <a:defRPr sz="1800">
                <a:solidFill>
                  <a:schemeClr val="bg1"/>
                </a:solidFill>
              </a:defRPr>
            </a:lvl1pPr>
          </a:lstStyle>
          <a:p>
            <a:pPr algn="ctr">
              <a:defRPr/>
            </a:pPr>
            <a:r>
              <a:rPr lang="ko-KR" altLang="en-US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</a:t>
            </a:r>
            <a:endParaRPr lang="en-US" altLang="ko-KR" sz="1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65" name="꺾인 연결선 87">
            <a:extLst>
              <a:ext uri="{FF2B5EF4-FFF2-40B4-BE49-F238E27FC236}">
                <a16:creationId xmlns:a16="http://schemas.microsoft.com/office/drawing/2014/main" id="{ED0EFF49-E912-44BB-A2C2-DE53934165A2}"/>
              </a:ext>
            </a:extLst>
          </p:cNvPr>
          <p:cNvCxnSpPr>
            <a:cxnSpLocks noChangeShapeType="1"/>
            <a:stCxn id="178" idx="0"/>
            <a:endCxn id="164" idx="2"/>
          </p:cNvCxnSpPr>
          <p:nvPr/>
        </p:nvCxnSpPr>
        <p:spPr bwMode="auto">
          <a:xfrm rot="5400000" flipH="1" flipV="1">
            <a:off x="4729183" y="172804"/>
            <a:ext cx="343376" cy="2383908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6" name="꺾인 연결선 87">
            <a:extLst>
              <a:ext uri="{FF2B5EF4-FFF2-40B4-BE49-F238E27FC236}">
                <a16:creationId xmlns:a16="http://schemas.microsoft.com/office/drawing/2014/main" id="{0D3379AD-FC29-4599-8D32-3CB3EBD6B06F}"/>
              </a:ext>
            </a:extLst>
          </p:cNvPr>
          <p:cNvCxnSpPr>
            <a:cxnSpLocks noChangeShapeType="1"/>
            <a:stCxn id="170" idx="0"/>
            <a:endCxn id="164" idx="2"/>
          </p:cNvCxnSpPr>
          <p:nvPr/>
        </p:nvCxnSpPr>
        <p:spPr bwMode="auto">
          <a:xfrm rot="16200000" flipV="1">
            <a:off x="6605141" y="680754"/>
            <a:ext cx="343376" cy="1368007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7" name="꺾인 연결선 87">
            <a:extLst>
              <a:ext uri="{FF2B5EF4-FFF2-40B4-BE49-F238E27FC236}">
                <a16:creationId xmlns:a16="http://schemas.microsoft.com/office/drawing/2014/main" id="{67306B89-3ACE-44FF-A808-10B47FF81919}"/>
              </a:ext>
            </a:extLst>
          </p:cNvPr>
          <p:cNvCxnSpPr>
            <a:cxnSpLocks noChangeShapeType="1"/>
            <a:stCxn id="208" idx="0"/>
            <a:endCxn id="164" idx="2"/>
          </p:cNvCxnSpPr>
          <p:nvPr/>
        </p:nvCxnSpPr>
        <p:spPr bwMode="auto">
          <a:xfrm rot="16200000" flipV="1">
            <a:off x="7784932" y="-499037"/>
            <a:ext cx="343376" cy="3727589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588957EB-F1FA-4DE6-BD5C-CBFFF4DB272C}"/>
              </a:ext>
            </a:extLst>
          </p:cNvPr>
          <p:cNvGrpSpPr/>
          <p:nvPr/>
        </p:nvGrpSpPr>
        <p:grpSpPr>
          <a:xfrm>
            <a:off x="6793528" y="1536446"/>
            <a:ext cx="1334610" cy="3045958"/>
            <a:chOff x="6025040" y="1719326"/>
            <a:chExt cx="1334610" cy="3045958"/>
          </a:xfrm>
        </p:grpSpPr>
        <p:sp>
          <p:nvSpPr>
            <p:cNvPr id="169" name="직사각형 168">
              <a:extLst>
                <a:ext uri="{FF2B5EF4-FFF2-40B4-BE49-F238E27FC236}">
                  <a16:creationId xmlns:a16="http://schemas.microsoft.com/office/drawing/2014/main" id="{2B4EEC43-2ABE-45F3-AED1-AFE006AC46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25040" y="1881252"/>
              <a:ext cx="1334610" cy="2884032"/>
            </a:xfrm>
            <a:prstGeom prst="rect">
              <a:avLst/>
            </a:prstGeom>
            <a:noFill/>
            <a:ln w="19050" algn="ctr">
              <a:solidFill>
                <a:srgbClr val="686868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 eaLnBrk="1" latinLnBrk="1" hangingPunct="1"/>
              <a:endParaRPr lang="ko-KR" altLang="en-US" sz="1000" dirty="0">
                <a:solidFill>
                  <a:srgbClr val="686868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170" name="TextBox 93">
              <a:extLst>
                <a:ext uri="{FF2B5EF4-FFF2-40B4-BE49-F238E27FC236}">
                  <a16:creationId xmlns:a16="http://schemas.microsoft.com/office/drawing/2014/main" id="{04FDA0E4-CD1A-4919-97E6-86CE779B10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49660" y="1719326"/>
              <a:ext cx="1085368" cy="322263"/>
            </a:xfrm>
            <a:prstGeom prst="rect">
              <a:avLst/>
            </a:prstGeom>
            <a:solidFill>
              <a:srgbClr val="A57432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ko-KR"/>
              </a:defPPr>
              <a:lvl1pPr>
                <a:defRPr sz="1800">
                  <a:solidFill>
                    <a:schemeClr val="bg1"/>
                  </a:solidFill>
                </a:defRPr>
              </a:lvl1pPr>
            </a:lstStyle>
            <a:p>
              <a:pPr algn="ctr">
                <a:defRPr/>
              </a:pPr>
              <a:r>
                <a:rPr lang="ko-KR" altLang="en-US" sz="1000" dirty="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별도 페이지</a:t>
              </a:r>
              <a:endPara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71" name="Rectangle 8">
              <a:extLst>
                <a:ext uri="{FF2B5EF4-FFF2-40B4-BE49-F238E27FC236}">
                  <a16:creationId xmlns:a16="http://schemas.microsoft.com/office/drawing/2014/main" id="{0FA813EA-7BCF-42E3-8796-757914C494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89" y="2297176"/>
              <a:ext cx="973137" cy="320675"/>
            </a:xfrm>
            <a:prstGeom prst="rect">
              <a:avLst/>
            </a:prstGeom>
            <a:solidFill>
              <a:schemeClr val="bg1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lIns="18000" tIns="0" rIns="18000" bIns="0" anchor="ctr"/>
            <a:lstStyle>
              <a:lvl1pPr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>
                <a:defRPr/>
              </a:pPr>
              <a:r>
                <a:rPr lang="ko-KR" altLang="en-US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rPr>
                <a:t>설해수림</a:t>
              </a:r>
              <a:endPara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172" name="Rectangle 8">
              <a:extLst>
                <a:ext uri="{FF2B5EF4-FFF2-40B4-BE49-F238E27FC236}">
                  <a16:creationId xmlns:a16="http://schemas.microsoft.com/office/drawing/2014/main" id="{2C73B944-F663-4BBD-88DC-AED870307F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095" y="2775407"/>
              <a:ext cx="974725" cy="320675"/>
            </a:xfrm>
            <a:prstGeom prst="rect">
              <a:avLst/>
            </a:prstGeom>
            <a:solidFill>
              <a:schemeClr val="bg1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lIns="18000" tIns="0" rIns="18000" bIns="0" anchor="ctr"/>
            <a:lstStyle>
              <a:lvl1pPr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>
                <a:defRPr/>
              </a:pPr>
              <a:r>
                <a:rPr lang="ko-KR" altLang="en-US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rPr>
                <a:t>설해별담</a:t>
              </a:r>
              <a:endPara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173" name="Rectangle 8">
              <a:extLst>
                <a:ext uri="{FF2B5EF4-FFF2-40B4-BE49-F238E27FC236}">
                  <a16:creationId xmlns:a16="http://schemas.microsoft.com/office/drawing/2014/main" id="{D35613BB-86B1-474C-8BAE-0C36236FB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89" y="3253638"/>
              <a:ext cx="973137" cy="320675"/>
            </a:xfrm>
            <a:prstGeom prst="rect">
              <a:avLst/>
            </a:prstGeom>
            <a:solidFill>
              <a:schemeClr val="bg1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lIns="18000" tIns="0" rIns="18000" bIns="0" anchor="ctr"/>
            <a:lstStyle>
              <a:lvl1pPr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>
                <a:defRPr/>
              </a:pPr>
              <a:r>
                <a:rPr lang="ko-KR" altLang="en-US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rPr>
                <a:t>설해원의 가치</a:t>
              </a:r>
              <a:endPara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174" name="Rectangle 8">
              <a:extLst>
                <a:ext uri="{FF2B5EF4-FFF2-40B4-BE49-F238E27FC236}">
                  <a16:creationId xmlns:a16="http://schemas.microsoft.com/office/drawing/2014/main" id="{CB605E77-9D56-4301-9E30-6523FA4185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095" y="3731869"/>
              <a:ext cx="974725" cy="320675"/>
            </a:xfrm>
            <a:prstGeom prst="rect">
              <a:avLst/>
            </a:prstGeom>
            <a:solidFill>
              <a:schemeClr val="bg1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lIns="18000" tIns="0" rIns="18000" bIns="0" anchor="ctr"/>
            <a:lstStyle>
              <a:lvl1pPr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>
                <a:defRPr/>
              </a:pPr>
              <a:r>
                <a:rPr lang="ko-KR" altLang="en-US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rPr>
                <a:t>보도자료</a:t>
              </a:r>
              <a:endPara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175" name="Rectangle 8">
              <a:extLst>
                <a:ext uri="{FF2B5EF4-FFF2-40B4-BE49-F238E27FC236}">
                  <a16:creationId xmlns:a16="http://schemas.microsoft.com/office/drawing/2014/main" id="{691FBB85-7AB0-4EB2-B58E-BD71A88A413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1889" y="4210101"/>
              <a:ext cx="973137" cy="320675"/>
            </a:xfrm>
            <a:prstGeom prst="rect">
              <a:avLst/>
            </a:prstGeom>
            <a:solidFill>
              <a:schemeClr val="bg1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lIns="18000" tIns="0" rIns="18000" bIns="0" anchor="ctr"/>
            <a:lstStyle>
              <a:lvl1pPr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 eaLnBrk="0" hangingPunct="0"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kumimoji="1" b="1">
                  <a:solidFill>
                    <a:srgbClr val="68686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>
                <a:defRPr/>
              </a:pPr>
              <a:r>
                <a:rPr lang="ko-KR" altLang="en-US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rPr>
                <a:t>컨시어지 문의</a:t>
              </a:r>
              <a:endPara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</p:grp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AD6630E5-17F8-486D-A6B5-5A8F51851766}"/>
              </a:ext>
            </a:extLst>
          </p:cNvPr>
          <p:cNvGrpSpPr/>
          <p:nvPr/>
        </p:nvGrpSpPr>
        <p:grpSpPr>
          <a:xfrm>
            <a:off x="1107937" y="1536446"/>
            <a:ext cx="5201958" cy="5092850"/>
            <a:chOff x="339449" y="1719326"/>
            <a:chExt cx="5201958" cy="5092850"/>
          </a:xfrm>
        </p:grpSpPr>
        <p:sp>
          <p:nvSpPr>
            <p:cNvPr id="177" name="직사각형 20">
              <a:extLst>
                <a:ext uri="{FF2B5EF4-FFF2-40B4-BE49-F238E27FC236}">
                  <a16:creationId xmlns:a16="http://schemas.microsoft.com/office/drawing/2014/main" id="{A93B77CA-6F6A-47F2-A428-FDFD0578C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9449" y="1881251"/>
              <a:ext cx="5201958" cy="4930925"/>
            </a:xfrm>
            <a:prstGeom prst="rect">
              <a:avLst/>
            </a:prstGeom>
            <a:noFill/>
            <a:ln w="19050" algn="ctr">
              <a:solidFill>
                <a:srgbClr val="686868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1pPr>
              <a:lvl2pPr marL="742950" indent="-28575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2pPr>
              <a:lvl3pPr marL="1143000" indent="-22860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3pPr>
              <a:lvl4pPr marL="1600200" indent="-22860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4pPr>
              <a:lvl5pPr marL="2057400" indent="-228600"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700" b="1">
                  <a:solidFill>
                    <a:schemeClr val="tx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defRPr>
              </a:lvl9pPr>
            </a:lstStyle>
            <a:p>
              <a:pPr algn="ctr" eaLnBrk="1" latinLnBrk="1" hangingPunct="1"/>
              <a:endParaRPr lang="ko-KR" altLang="en-US" sz="1000" dirty="0">
                <a:solidFill>
                  <a:srgbClr val="686868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endParaRPr>
            </a:p>
          </p:txBody>
        </p:sp>
        <p:sp>
          <p:nvSpPr>
            <p:cNvPr id="178" name="TextBox 93">
              <a:extLst>
                <a:ext uri="{FF2B5EF4-FFF2-40B4-BE49-F238E27FC236}">
                  <a16:creationId xmlns:a16="http://schemas.microsoft.com/office/drawing/2014/main" id="{F3CAB985-0585-4EEE-8570-9AA6536011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18910" y="1719326"/>
              <a:ext cx="1443037" cy="322263"/>
            </a:xfrm>
            <a:prstGeom prst="rect">
              <a:avLst/>
            </a:prstGeom>
            <a:solidFill>
              <a:srgbClr val="A57432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ko-KR"/>
              </a:defPPr>
              <a:lvl1pPr>
                <a:defRPr sz="1800">
                  <a:solidFill>
                    <a:schemeClr val="bg1"/>
                  </a:solidFill>
                </a:defRPr>
              </a:lvl1pPr>
            </a:lstStyle>
            <a:p>
              <a:pPr algn="ctr">
                <a:defRPr/>
              </a:pPr>
              <a:r>
                <a:rPr lang="ko-KR" altLang="en-US" sz="1000" dirty="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설해원 리조트</a:t>
              </a:r>
              <a:endParaRPr lang="en-US" altLang="ko-KR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6DEAB254-3B62-4ED5-8791-635DBBEC869C}"/>
                </a:ext>
              </a:extLst>
            </p:cNvPr>
            <p:cNvGrpSpPr/>
            <p:nvPr/>
          </p:nvGrpSpPr>
          <p:grpSpPr>
            <a:xfrm>
              <a:off x="651139" y="2297176"/>
              <a:ext cx="4578578" cy="4436940"/>
              <a:chOff x="651731" y="2297176"/>
              <a:chExt cx="4578578" cy="4436940"/>
            </a:xfrm>
          </p:grpSpPr>
          <p:sp>
            <p:nvSpPr>
              <p:cNvPr id="180" name="Rectangle 8">
                <a:extLst>
                  <a:ext uri="{FF2B5EF4-FFF2-40B4-BE49-F238E27FC236}">
                    <a16:creationId xmlns:a16="http://schemas.microsoft.com/office/drawing/2014/main" id="{C7F5B2F8-52EC-4754-973B-4BCE466D0E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731" y="2297176"/>
                <a:ext cx="973137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객실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1" name="Rectangle 8">
                <a:extLst>
                  <a:ext uri="{FF2B5EF4-FFF2-40B4-BE49-F238E27FC236}">
                    <a16:creationId xmlns:a16="http://schemas.microsoft.com/office/drawing/2014/main" id="{274EB0CE-5F33-4522-AED7-825F2320805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51881" y="2297176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하우스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A47539D-D35B-43E3-B8D6-54059873C9BA}"/>
                  </a:ext>
                </a:extLst>
              </p:cNvPr>
              <p:cNvSpPr txBox="1"/>
              <p:nvPr/>
            </p:nvSpPr>
            <p:spPr>
              <a:xfrm>
                <a:off x="720541" y="2672054"/>
                <a:ext cx="83869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마운틴스테이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설해온천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골프텔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객실 이용 안내</a:t>
                </a:r>
                <a:endParaRPr lang="ko-KR" altLang="en-US" sz="8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3553BFDB-8289-4DA8-B585-9B4E9EB81566}"/>
                  </a:ext>
                </a:extLst>
              </p:cNvPr>
              <p:cNvSpPr txBox="1"/>
              <p:nvPr/>
            </p:nvSpPr>
            <p:spPr>
              <a:xfrm>
                <a:off x="1947164" y="2672054"/>
                <a:ext cx="780983" cy="3385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설해원하우스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설해별담</a:t>
                </a:r>
                <a:endParaRPr lang="ko-KR" altLang="en-US" sz="8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A3AFE7C3-E00C-4067-9AC0-8DFA65628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731" y="3510807"/>
                <a:ext cx="973137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온천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5" name="Rectangle 8">
                <a:extLst>
                  <a:ext uri="{FF2B5EF4-FFF2-40B4-BE49-F238E27FC236}">
                    <a16:creationId xmlns:a16="http://schemas.microsoft.com/office/drawing/2014/main" id="{D5F07C8E-0EC3-4B89-8630-F1F1FDE67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51881" y="3510807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다이닝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F39CC898-52E3-44AE-8561-4004DA3639E2}"/>
                  </a:ext>
                </a:extLst>
              </p:cNvPr>
              <p:cNvSpPr txBox="1"/>
              <p:nvPr/>
            </p:nvSpPr>
            <p:spPr>
              <a:xfrm>
                <a:off x="720541" y="3879875"/>
                <a:ext cx="838691" cy="95410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설해원 온천수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온천사우나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노천스파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온천수영장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면역공방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클라리스파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온천 이용 안내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C10482B0-063C-41CC-8239-0DE2A416FDE0}"/>
                  </a:ext>
                </a:extLst>
              </p:cNvPr>
              <p:cNvSpPr txBox="1"/>
              <p:nvPr/>
            </p:nvSpPr>
            <p:spPr>
              <a:xfrm>
                <a:off x="1863807" y="3879875"/>
                <a:ext cx="947696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곧은 레스토랑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풀라 다이닝 </a:t>
                </a:r>
                <a:r>
                  <a:rPr lang="en-US" altLang="ko-KR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&amp; </a:t>
                </a: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바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설해빵집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샤브룸</a:t>
                </a:r>
              </a:p>
            </p:txBody>
          </p:sp>
          <p:sp>
            <p:nvSpPr>
              <p:cNvPr id="188" name="Rectangle 8">
                <a:extLst>
                  <a:ext uri="{FF2B5EF4-FFF2-40B4-BE49-F238E27FC236}">
                    <a16:creationId xmlns:a16="http://schemas.microsoft.com/office/drawing/2014/main" id="{8866A36B-89DC-4422-8075-DC0EB9C6AF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731" y="4884186"/>
                <a:ext cx="973137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문화공간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89" name="Rectangle 8">
                <a:extLst>
                  <a:ext uri="{FF2B5EF4-FFF2-40B4-BE49-F238E27FC236}">
                    <a16:creationId xmlns:a16="http://schemas.microsoft.com/office/drawing/2014/main" id="{4B70CA54-081F-42DD-990E-E441877B83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51881" y="4884186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스페셜 오퍼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33C239DD-C32A-40D5-B292-C872222893DE}"/>
                  </a:ext>
                </a:extLst>
              </p:cNvPr>
              <p:cNvSpPr txBox="1"/>
              <p:nvPr/>
            </p:nvSpPr>
            <p:spPr>
              <a:xfrm>
                <a:off x="730159" y="5250800"/>
                <a:ext cx="819455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설해원 생각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서재 </a:t>
                </a:r>
                <a:r>
                  <a:rPr lang="en-US" altLang="ko-KR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&amp; </a:t>
                </a: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레터룸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편의점</a:t>
                </a:r>
              </a:p>
            </p:txBody>
          </p: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7AA6CD97-22A4-45F7-8C94-E6EEEB52A21F}"/>
                  </a:ext>
                </a:extLst>
              </p:cNvPr>
              <p:cNvSpPr txBox="1"/>
              <p:nvPr/>
            </p:nvSpPr>
            <p:spPr>
              <a:xfrm>
                <a:off x="2096241" y="5250800"/>
                <a:ext cx="482824" cy="3385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패키지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이벤트</a:t>
                </a:r>
                <a:endParaRPr lang="ko-KR" altLang="en-US" sz="8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92" name="Rectangle 8">
                <a:extLst>
                  <a:ext uri="{FF2B5EF4-FFF2-40B4-BE49-F238E27FC236}">
                    <a16:creationId xmlns:a16="http://schemas.microsoft.com/office/drawing/2014/main" id="{F3CEBC13-EBD6-424E-9A6F-996ED5AE1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7680" y="2297176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체육시설</a:t>
                </a:r>
                <a:r>
                  <a:rPr lang="en-US" altLang="ko-KR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(</a:t>
                </a: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골프</a:t>
                </a:r>
                <a:r>
                  <a:rPr lang="en-US" altLang="ko-KR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)</a:t>
                </a: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C7EA9B6-54CC-4674-9859-64727B7E4654}"/>
                  </a:ext>
                </a:extLst>
              </p:cNvPr>
              <p:cNvSpPr txBox="1"/>
              <p:nvPr/>
            </p:nvSpPr>
            <p:spPr>
              <a:xfrm>
                <a:off x="2978639" y="2672054"/>
                <a:ext cx="1112805" cy="83099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씨뷰 코스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샐몬 코스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파인 코스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더 레전드 코스</a:t>
                </a:r>
                <a:r>
                  <a:rPr lang="en-US" altLang="ko-KR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(18</a:t>
                </a: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홀</a:t>
                </a:r>
                <a:r>
                  <a:rPr lang="en-US" altLang="ko-KR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)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스타트하우스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골프 이용 안내</a:t>
                </a:r>
              </a:p>
            </p:txBody>
          </p:sp>
          <p:sp>
            <p:nvSpPr>
              <p:cNvPr id="194" name="Rectangle 8">
                <a:extLst>
                  <a:ext uri="{FF2B5EF4-FFF2-40B4-BE49-F238E27FC236}">
                    <a16:creationId xmlns:a16="http://schemas.microsoft.com/office/drawing/2014/main" id="{4D195E65-23C3-463F-9515-C95C386DF4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49998" y="3510807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액티비티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11F0702-FB78-4AC8-825D-FEDD66F004C2}"/>
                  </a:ext>
                </a:extLst>
              </p:cNvPr>
              <p:cNvSpPr txBox="1"/>
              <p:nvPr/>
            </p:nvSpPr>
            <p:spPr>
              <a:xfrm>
                <a:off x="3180547" y="3879875"/>
                <a:ext cx="710451" cy="83099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해풍길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설해랑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골프 연습장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스크린골프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노래방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키즈존</a:t>
                </a:r>
              </a:p>
            </p:txBody>
          </p:sp>
          <p:sp>
            <p:nvSpPr>
              <p:cNvPr id="196" name="Rectangle 8">
                <a:extLst>
                  <a:ext uri="{FF2B5EF4-FFF2-40B4-BE49-F238E27FC236}">
                    <a16:creationId xmlns:a16="http://schemas.microsoft.com/office/drawing/2014/main" id="{F75E3C19-1292-4D52-B2A1-5BAE8F4A48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55584" y="4884186"/>
                <a:ext cx="973137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회원정보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D18BD556-0A09-4842-837E-E6D025F16150}"/>
                  </a:ext>
                </a:extLst>
              </p:cNvPr>
              <p:cNvSpPr txBox="1"/>
              <p:nvPr/>
            </p:nvSpPr>
            <p:spPr>
              <a:xfrm>
                <a:off x="4274701" y="5250800"/>
                <a:ext cx="938078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온라인 고객 가입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로그인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마이페이지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회원정보 수정</a:t>
                </a:r>
              </a:p>
            </p:txBody>
          </p:sp>
          <p:sp>
            <p:nvSpPr>
              <p:cNvPr id="198" name="Rectangle 8">
                <a:extLst>
                  <a:ext uri="{FF2B5EF4-FFF2-40B4-BE49-F238E27FC236}">
                    <a16:creationId xmlns:a16="http://schemas.microsoft.com/office/drawing/2014/main" id="{12137E24-EFA2-4D0B-AD15-7AF0FEAA6E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732" y="5755869"/>
                <a:ext cx="3370674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기타</a:t>
                </a:r>
                <a:r>
                  <a:rPr lang="en-US" altLang="ko-KR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(Util)</a:t>
                </a: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25FA55DC-6F69-4973-8D45-7B6BA9DF52DB}"/>
                  </a:ext>
                </a:extLst>
              </p:cNvPr>
              <p:cNvSpPr txBox="1"/>
              <p:nvPr/>
            </p:nvSpPr>
            <p:spPr>
              <a:xfrm>
                <a:off x="783073" y="6139968"/>
                <a:ext cx="71045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사진과 영상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공지사항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보도자료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자료실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5D2FA356-104B-4515-B8A9-02C6637BC27D}"/>
                  </a:ext>
                </a:extLst>
              </p:cNvPr>
              <p:cNvSpPr txBox="1"/>
              <p:nvPr/>
            </p:nvSpPr>
            <p:spPr>
              <a:xfrm>
                <a:off x="1966668" y="6139968"/>
                <a:ext cx="809837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설해원 생활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브랜드 스토리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오시는길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8C9B2110-5036-4ED0-9EDD-AC0D63151B98}"/>
                  </a:ext>
                </a:extLst>
              </p:cNvPr>
              <p:cNvSpPr txBox="1"/>
              <p:nvPr/>
            </p:nvSpPr>
            <p:spPr>
              <a:xfrm>
                <a:off x="3036882" y="6149341"/>
                <a:ext cx="100860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개인정보 취급방침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이용약관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로그인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마이페이지</a:t>
                </a:r>
              </a:p>
            </p:txBody>
          </p:sp>
          <p:sp>
            <p:nvSpPr>
              <p:cNvPr id="202" name="Rectangle 8">
                <a:extLst>
                  <a:ext uri="{FF2B5EF4-FFF2-40B4-BE49-F238E27FC236}">
                    <a16:creationId xmlns:a16="http://schemas.microsoft.com/office/drawing/2014/main" id="{52BEC9C9-D312-4B19-AE93-0B8E5AE38A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55584" y="2297176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회원모집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6BB9A6D2-F6E6-4238-B871-72459E331AC9}"/>
                  </a:ext>
                </a:extLst>
              </p:cNvPr>
              <p:cNvSpPr txBox="1"/>
              <p:nvPr/>
            </p:nvSpPr>
            <p:spPr>
              <a:xfrm>
                <a:off x="4450253" y="2672054"/>
                <a:ext cx="582211" cy="33855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설해수림</a:t>
                </a:r>
                <a:endParaRPr lang="en-US" altLang="ko-KR" sz="80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  <a:p>
                <a:pPr algn="ctr">
                  <a:defRPr/>
                </a:pPr>
                <a:r>
                  <a:rPr lang="ko-KR" altLang="en-US" sz="8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설해별담</a:t>
                </a:r>
              </a:p>
            </p:txBody>
          </p:sp>
          <p:sp>
            <p:nvSpPr>
              <p:cNvPr id="204" name="Rectangle 8">
                <a:extLst>
                  <a:ext uri="{FF2B5EF4-FFF2-40B4-BE49-F238E27FC236}">
                    <a16:creationId xmlns:a16="http://schemas.microsoft.com/office/drawing/2014/main" id="{81E4E244-97A8-4BEE-8C52-649B4A1BA2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55584" y="3510807"/>
                <a:ext cx="974725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예약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06CB32EA-9E20-495F-8CDC-D67DB168A5C2}"/>
                  </a:ext>
                </a:extLst>
              </p:cNvPr>
              <p:cNvSpPr txBox="1"/>
              <p:nvPr/>
            </p:nvSpPr>
            <p:spPr>
              <a:xfrm>
                <a:off x="4257893" y="3879875"/>
                <a:ext cx="966931" cy="46166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객실 예약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골프 예약</a:t>
                </a:r>
              </a:p>
              <a:p>
                <a:pPr algn="ctr">
                  <a:defRPr/>
                </a:pPr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예약 및 취소 안내</a:t>
                </a:r>
              </a:p>
            </p:txBody>
          </p:sp>
        </p:grpSp>
      </p:grp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3EBE386B-7EE2-4588-8594-7BD73B6470AC}"/>
              </a:ext>
            </a:extLst>
          </p:cNvPr>
          <p:cNvGrpSpPr/>
          <p:nvPr/>
        </p:nvGrpSpPr>
        <p:grpSpPr>
          <a:xfrm>
            <a:off x="8556763" y="1536446"/>
            <a:ext cx="2527300" cy="2160550"/>
            <a:chOff x="7788275" y="1719326"/>
            <a:chExt cx="2527300" cy="2160550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FF16B9AF-160C-467B-9779-9204263A4269}"/>
                </a:ext>
              </a:extLst>
            </p:cNvPr>
            <p:cNvGrpSpPr/>
            <p:nvPr/>
          </p:nvGrpSpPr>
          <p:grpSpPr>
            <a:xfrm>
              <a:off x="7788275" y="1881252"/>
              <a:ext cx="2527300" cy="1998624"/>
              <a:chOff x="7788275" y="1881252"/>
              <a:chExt cx="2527300" cy="1998624"/>
            </a:xfrm>
          </p:grpSpPr>
          <p:sp>
            <p:nvSpPr>
              <p:cNvPr id="209" name="직사각형 50">
                <a:extLst>
                  <a:ext uri="{FF2B5EF4-FFF2-40B4-BE49-F238E27FC236}">
                    <a16:creationId xmlns:a16="http://schemas.microsoft.com/office/drawing/2014/main" id="{F058DB45-2BA1-4A6A-9FA2-27EE07C067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88275" y="1881252"/>
                <a:ext cx="2527300" cy="1998624"/>
              </a:xfrm>
              <a:prstGeom prst="rect">
                <a:avLst/>
              </a:prstGeom>
              <a:noFill/>
              <a:ln w="19050" algn="ctr">
                <a:solidFill>
                  <a:srgbClr val="686868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700" b="1">
                    <a:solidFill>
                      <a:schemeClr val="tx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 eaLnBrk="1" latinLnBrk="1" hangingPunct="1"/>
                <a:endParaRPr lang="ko-KR" altLang="en-US" sz="1000" dirty="0">
                  <a:solidFill>
                    <a:srgbClr val="686868"/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10" name="Rectangle 8">
                <a:extLst>
                  <a:ext uri="{FF2B5EF4-FFF2-40B4-BE49-F238E27FC236}">
                    <a16:creationId xmlns:a16="http://schemas.microsoft.com/office/drawing/2014/main" id="{557D88CF-F0A7-4235-A468-BD1CCA86C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56700" y="2289239"/>
                <a:ext cx="973138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설해별담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11" name="Rectangle 8">
                <a:extLst>
                  <a:ext uri="{FF2B5EF4-FFF2-40B4-BE49-F238E27FC236}">
                    <a16:creationId xmlns:a16="http://schemas.microsoft.com/office/drawing/2014/main" id="{E4BBF42D-666B-47AC-A8BA-842AD86D7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43850" y="2786520"/>
                <a:ext cx="973138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설해수림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12" name="Rectangle 8">
                <a:extLst>
                  <a:ext uri="{FF2B5EF4-FFF2-40B4-BE49-F238E27FC236}">
                    <a16:creationId xmlns:a16="http://schemas.microsoft.com/office/drawing/2014/main" id="{B457D247-A6B1-4FF9-A74D-5C995B1EAA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54963" y="2286064"/>
                <a:ext cx="974725" cy="322262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설해원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13" name="Rectangle 8">
                <a:extLst>
                  <a:ext uri="{FF2B5EF4-FFF2-40B4-BE49-F238E27FC236}">
                    <a16:creationId xmlns:a16="http://schemas.microsoft.com/office/drawing/2014/main" id="{47BFE8F4-BC06-4ABD-AD2D-431BBA4EFB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72575" y="2773820"/>
                <a:ext cx="974725" cy="322262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설해원 클리프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  <p:sp>
            <p:nvSpPr>
              <p:cNvPr id="214" name="Rectangle 8">
                <a:extLst>
                  <a:ext uri="{FF2B5EF4-FFF2-40B4-BE49-F238E27FC236}">
                    <a16:creationId xmlns:a16="http://schemas.microsoft.com/office/drawing/2014/main" id="{5E3A418E-2546-4B7D-9F99-776A665404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43850" y="3249904"/>
                <a:ext cx="973138" cy="320675"/>
              </a:xfrm>
              <a:prstGeom prst="rect">
                <a:avLst/>
              </a:prstGeom>
              <a:solidFill>
                <a:schemeClr val="bg1"/>
              </a:solidFill>
              <a:ln w="19050" algn="ctr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  <a:effectLst/>
            </p:spPr>
            <p:txBody>
              <a:bodyPr wrap="none" lIns="18000" tIns="0" rIns="18000" bIns="0" anchor="ctr"/>
              <a:lstStyle>
                <a:lvl1pPr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1pPr>
                <a:lvl2pPr marL="742950" indent="-28575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2pPr>
                <a:lvl3pPr marL="11430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3pPr>
                <a:lvl4pPr marL="16002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4pPr>
                <a:lvl5pPr marL="2057400" indent="-228600" eaLnBrk="0" hangingPunct="0"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5pPr>
                <a:lvl6pPr marL="25146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6pPr>
                <a:lvl7pPr marL="29718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7pPr>
                <a:lvl8pPr marL="34290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8pPr>
                <a:lvl9pPr marL="3886200" indent="-228600" algn="ctr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b="1">
                    <a:solidFill>
                      <a:srgbClr val="686868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defRPr>
                </a:lvl9pPr>
              </a:lstStyle>
              <a:p>
                <a:pPr algn="ctr">
                  <a:defRPr/>
                </a:pPr>
                <a:r>
                  <a:rPr lang="ko-KR" altLang="en-US" sz="900" b="0" dirty="0">
                    <a:solidFill>
                      <a:schemeClr val="bg1">
                        <a:lumMod val="50000"/>
                      </a:schemeClr>
                    </a:solidFill>
                    <a:latin typeface="G마켓 산스 TTF Light" panose="02000000000000000000" pitchFamily="2" charset="-127"/>
                    <a:ea typeface="G마켓 산스 TTF Light" panose="02000000000000000000" pitchFamily="2" charset="-127"/>
                  </a:rPr>
                  <a:t>더 코어</a:t>
                </a:r>
                <a:endParaRPr lang="en-US" altLang="ko-KR" sz="900" b="0" dirty="0">
                  <a:solidFill>
                    <a:schemeClr val="bg1">
                      <a:lumMod val="50000"/>
                    </a:schemeClr>
                  </a:solidFill>
                  <a:latin typeface="G마켓 산스 TTF Light" panose="02000000000000000000" pitchFamily="2" charset="-127"/>
                  <a:ea typeface="G마켓 산스 TTF Light" panose="02000000000000000000" pitchFamily="2" charset="-127"/>
                </a:endParaRPr>
              </a:p>
            </p:txBody>
          </p:sp>
        </p:grpSp>
        <p:sp>
          <p:nvSpPr>
            <p:cNvPr id="208" name="TextBox 93">
              <a:extLst>
                <a:ext uri="{FF2B5EF4-FFF2-40B4-BE49-F238E27FC236}">
                  <a16:creationId xmlns:a16="http://schemas.microsoft.com/office/drawing/2014/main" id="{E5401D61-6995-4617-98E4-C37BFC4C51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329613" y="1719326"/>
              <a:ext cx="1444625" cy="322263"/>
            </a:xfrm>
            <a:prstGeom prst="rect">
              <a:avLst/>
            </a:prstGeom>
            <a:solidFill>
              <a:srgbClr val="A57432"/>
            </a:solidFill>
            <a:ln w="19050" algn="ctr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  <a:effectLst/>
          </p:spPr>
          <p:txBody>
            <a:bodyPr wrap="none" anchor="ctr"/>
            <a:lstStyle>
              <a:defPPr>
                <a:defRPr lang="ko-KR"/>
              </a:defPPr>
              <a:lvl1pPr algn="ctr">
                <a:defRPr sz="1000">
                  <a:solidFill>
                    <a:schemeClr val="bg1"/>
                  </a:solidFill>
                  <a:latin typeface="+mn-ea"/>
                </a:defRPr>
              </a:lvl1pPr>
            </a:lstStyle>
            <a:p>
              <a:r>
                <a:rPr lang="ko-KR" altLang="en-US" dirty="0">
                  <a:latin typeface="G마켓 산스 TTF Medium" panose="02000000000000000000" pitchFamily="2" charset="-127"/>
                  <a:ea typeface="G마켓 산스 TTF Medium" panose="02000000000000000000" pitchFamily="2" charset="-127"/>
                </a:rPr>
                <a:t>설해원 유니버스</a:t>
              </a:r>
              <a:endParaRPr lang="en-US" altLang="ko-KR" dirty="0"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215" name="직사각형 214">
            <a:extLst>
              <a:ext uri="{FF2B5EF4-FFF2-40B4-BE49-F238E27FC236}">
                <a16:creationId xmlns:a16="http://schemas.microsoft.com/office/drawing/2014/main" id="{187D50D0-56DF-497D-80A7-6019792D7600}"/>
              </a:ext>
            </a:extLst>
          </p:cNvPr>
          <p:cNvSpPr/>
          <p:nvPr/>
        </p:nvSpPr>
        <p:spPr>
          <a:xfrm>
            <a:off x="4945875" y="2017019"/>
            <a:ext cx="1112805" cy="830997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16" name="연결선: 꺾임 215">
            <a:extLst>
              <a:ext uri="{FF2B5EF4-FFF2-40B4-BE49-F238E27FC236}">
                <a16:creationId xmlns:a16="http://schemas.microsoft.com/office/drawing/2014/main" id="{AF2FC71E-DFC2-4398-90CF-3C01851175CB}"/>
              </a:ext>
            </a:extLst>
          </p:cNvPr>
          <p:cNvCxnSpPr>
            <a:stCxn id="215" idx="3"/>
            <a:endCxn id="169" idx="1"/>
          </p:cNvCxnSpPr>
          <p:nvPr/>
        </p:nvCxnSpPr>
        <p:spPr>
          <a:xfrm>
            <a:off x="6058680" y="2432518"/>
            <a:ext cx="734848" cy="707870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635715CA-4DF9-4424-B6D1-BB86A2E376AC}"/>
              </a:ext>
            </a:extLst>
          </p:cNvPr>
          <p:cNvSpPr/>
          <p:nvPr/>
        </p:nvSpPr>
        <p:spPr>
          <a:xfrm>
            <a:off x="8654410" y="2017019"/>
            <a:ext cx="1112805" cy="47215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18" name="연결선: 꺾임 217">
            <a:extLst>
              <a:ext uri="{FF2B5EF4-FFF2-40B4-BE49-F238E27FC236}">
                <a16:creationId xmlns:a16="http://schemas.microsoft.com/office/drawing/2014/main" id="{6DDE9A61-AEBD-4AC3-8E69-6D5A9291A00A}"/>
              </a:ext>
            </a:extLst>
          </p:cNvPr>
          <p:cNvCxnSpPr>
            <a:cxnSpLocks/>
            <a:stCxn id="217" idx="0"/>
            <a:endCxn id="178" idx="0"/>
          </p:cNvCxnSpPr>
          <p:nvPr/>
        </p:nvCxnSpPr>
        <p:spPr>
          <a:xfrm rot="16200000" flipV="1">
            <a:off x="6219579" y="-974215"/>
            <a:ext cx="480573" cy="5501896"/>
          </a:xfrm>
          <a:prstGeom prst="bentConnector3">
            <a:avLst>
              <a:gd name="adj1" fmla="val 147568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482D6269-DFEE-4553-AC96-59E695B9D958}"/>
              </a:ext>
            </a:extLst>
          </p:cNvPr>
          <p:cNvSpPr/>
          <p:nvPr/>
        </p:nvSpPr>
        <p:spPr>
          <a:xfrm>
            <a:off x="6725294" y="4615672"/>
            <a:ext cx="4947224" cy="556884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이미지 중심의 소개 페이지로 구성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‘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회원모집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’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페이지 내 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‘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자세히 보기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’ 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클릭 시 별도 제작된 페이지로 이동</a:t>
            </a:r>
            <a:endParaRPr lang="en-US" altLang="ko-KR" sz="1050" dirty="0"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FE803B94-0357-4DE1-9029-4C0D53C77862}"/>
              </a:ext>
            </a:extLst>
          </p:cNvPr>
          <p:cNvSpPr/>
          <p:nvPr/>
        </p:nvSpPr>
        <p:spPr>
          <a:xfrm>
            <a:off x="4944255" y="4639814"/>
            <a:ext cx="1112805" cy="101288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21" name="연결선: 꺾임 220">
            <a:extLst>
              <a:ext uri="{FF2B5EF4-FFF2-40B4-BE49-F238E27FC236}">
                <a16:creationId xmlns:a16="http://schemas.microsoft.com/office/drawing/2014/main" id="{D9F263A1-0D7B-40C6-B34F-97BFA4569070}"/>
              </a:ext>
            </a:extLst>
          </p:cNvPr>
          <p:cNvCxnSpPr>
            <a:cxnSpLocks/>
            <a:stCxn id="220" idx="3"/>
          </p:cNvCxnSpPr>
          <p:nvPr/>
        </p:nvCxnSpPr>
        <p:spPr>
          <a:xfrm>
            <a:off x="6057060" y="5146255"/>
            <a:ext cx="668234" cy="454715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직사각형 221">
            <a:extLst>
              <a:ext uri="{FF2B5EF4-FFF2-40B4-BE49-F238E27FC236}">
                <a16:creationId xmlns:a16="http://schemas.microsoft.com/office/drawing/2014/main" id="{051A1339-144C-4B77-8F63-3B3B09F911FA}"/>
              </a:ext>
            </a:extLst>
          </p:cNvPr>
          <p:cNvSpPr/>
          <p:nvPr/>
        </p:nvSpPr>
        <p:spPr>
          <a:xfrm>
            <a:off x="6725294" y="5423112"/>
            <a:ext cx="5201957" cy="556884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온라인 회원 가입이 가능하나 기본적으로 회원제로 운영되기 때문에</a:t>
            </a:r>
            <a:b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</a:b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 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예치금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(300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만원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) 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결제가 필수</a:t>
            </a:r>
            <a:endParaRPr lang="ko-KR" altLang="en-US" sz="1050" b="1" u="sng" dirty="0"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223" name="직사각형 222">
            <a:extLst>
              <a:ext uri="{FF2B5EF4-FFF2-40B4-BE49-F238E27FC236}">
                <a16:creationId xmlns:a16="http://schemas.microsoft.com/office/drawing/2014/main" id="{D9BC557C-84B6-4715-BB26-3E71414E37FC}"/>
              </a:ext>
            </a:extLst>
          </p:cNvPr>
          <p:cNvSpPr/>
          <p:nvPr/>
        </p:nvSpPr>
        <p:spPr>
          <a:xfrm>
            <a:off x="8556763" y="3723374"/>
            <a:ext cx="2527300" cy="556884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이미지 중심의 소개 페이지로 구성</a:t>
            </a:r>
            <a:endParaRPr lang="en-US" altLang="ko-KR" sz="1050" dirty="0"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‘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설해원 리조트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’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홈페이지로 연결</a:t>
            </a:r>
            <a:endParaRPr lang="ko-KR" altLang="en-US" sz="1050" b="1" u="sng" dirty="0"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76159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2DD41CB4-378B-B691-07B3-849E1DF20865}"/>
              </a:ext>
            </a:extLst>
          </p:cNvPr>
          <p:cNvSpPr txBox="1"/>
          <p:nvPr/>
        </p:nvSpPr>
        <p:spPr>
          <a:xfrm>
            <a:off x="339449" y="128120"/>
            <a:ext cx="1593706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vl="0">
              <a:defRPr/>
            </a:pP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별첨 </a:t>
            </a:r>
            <a:r>
              <a:rPr lang="en-US" altLang="ko-KR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요구사항 </a:t>
            </a:r>
            <a:endParaRPr lang="ko-KR" altLang="en-US" sz="16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BEE0B76-F2FB-4B2B-9ADA-45C779FBD984}"/>
              </a:ext>
            </a:extLst>
          </p:cNvPr>
          <p:cNvSpPr/>
          <p:nvPr/>
        </p:nvSpPr>
        <p:spPr>
          <a:xfrm>
            <a:off x="511197" y="673566"/>
            <a:ext cx="209485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요구사항 기준 </a:t>
            </a:r>
            <a:r>
              <a:rPr lang="en-US" altLang="ko-KR" sz="12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Pretendard" panose="02000503000000020004" pitchFamily="50" charset="-127"/>
              </a:rPr>
              <a:t>- Sitemap </a:t>
            </a:r>
            <a:endParaRPr kumimoji="0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71C8C3F-807A-4D48-A167-DFE85406DDA9}"/>
              </a:ext>
            </a:extLst>
          </p:cNvPr>
          <p:cNvCxnSpPr/>
          <p:nvPr/>
        </p:nvCxnSpPr>
        <p:spPr>
          <a:xfrm>
            <a:off x="649972" y="954324"/>
            <a:ext cx="15430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슬라이드 번호 개체 틀 8">
            <a:extLst>
              <a:ext uri="{FF2B5EF4-FFF2-40B4-BE49-F238E27FC236}">
                <a16:creationId xmlns:a16="http://schemas.microsoft.com/office/drawing/2014/main" id="{B9695E83-DC3F-44D0-A540-FBB15D26D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472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 </a:t>
            </a:r>
            <a:fld id="{D5866FCA-0B87-40E1-9583-0E9C7650E22B}" type="slidenum">
              <a:rPr kumimoji="0" lang="ko-KR" altLang="en-US" sz="120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8D7A799-78DA-4365-BD84-34A7F0200EB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sp>
        <p:nvSpPr>
          <p:cNvPr id="44" name="Rectangle 8">
            <a:extLst>
              <a:ext uri="{FF2B5EF4-FFF2-40B4-BE49-F238E27FC236}">
                <a16:creationId xmlns:a16="http://schemas.microsoft.com/office/drawing/2014/main" id="{77A7A067-69AC-460C-9982-8BD02A70D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688" y="1594970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예약하기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577C1CC-4E5B-405B-9F8F-BCE8F708121E}"/>
              </a:ext>
            </a:extLst>
          </p:cNvPr>
          <p:cNvSpPr txBox="1"/>
          <p:nvPr/>
        </p:nvSpPr>
        <p:spPr>
          <a:xfrm>
            <a:off x="2067896" y="1955792"/>
            <a:ext cx="85472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객실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골프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부대시설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온천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8" name="TextBox 93">
            <a:extLst>
              <a:ext uri="{FF2B5EF4-FFF2-40B4-BE49-F238E27FC236}">
                <a16:creationId xmlns:a16="http://schemas.microsoft.com/office/drawing/2014/main" id="{8D96A54C-1F3E-4986-B9C3-46C7DF57BA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9700" y="804132"/>
            <a:ext cx="1746250" cy="388938"/>
          </a:xfrm>
          <a:prstGeom prst="rect">
            <a:avLst/>
          </a:prstGeom>
          <a:solidFill>
            <a:srgbClr val="A57432"/>
          </a:solidFill>
          <a:ln w="19050" algn="ctr">
            <a:noFill/>
            <a:round/>
            <a:headEnd/>
            <a:tailEnd/>
          </a:ln>
          <a:effectLst/>
        </p:spPr>
        <p:txBody>
          <a:bodyPr wrap="none" anchor="ctr"/>
          <a:lstStyle>
            <a:defPPr>
              <a:defRPr lang="ko-KR"/>
            </a:defPPr>
            <a:lvl1pPr>
              <a:defRPr sz="1800">
                <a:solidFill>
                  <a:schemeClr val="bg1"/>
                </a:solidFill>
              </a:defRPr>
            </a:lvl1pPr>
          </a:lstStyle>
          <a:p>
            <a:pPr algn="ctr">
              <a:defRPr/>
            </a:pPr>
            <a:r>
              <a:rPr lang="ko-KR" altLang="en-US" sz="1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</a:t>
            </a:r>
            <a:endParaRPr lang="en-US" altLang="ko-KR" sz="1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5" name="Rectangle 8">
            <a:extLst>
              <a:ext uri="{FF2B5EF4-FFF2-40B4-BE49-F238E27FC236}">
                <a16:creationId xmlns:a16="http://schemas.microsoft.com/office/drawing/2014/main" id="{6E0C432C-11DF-4970-81B2-2ABBCA39E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132" y="1598581"/>
            <a:ext cx="973137" cy="320675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en-US" altLang="ko-KR" sz="9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GNB</a:t>
            </a:r>
          </a:p>
        </p:txBody>
      </p:sp>
      <p:sp>
        <p:nvSpPr>
          <p:cNvPr id="56" name="Rectangle 8">
            <a:extLst>
              <a:ext uri="{FF2B5EF4-FFF2-40B4-BE49-F238E27FC236}">
                <a16:creationId xmlns:a16="http://schemas.microsoft.com/office/drawing/2014/main" id="{0C8B8CC6-BFF8-4FEB-A53E-EF0D42707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319" y="1594970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생각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5C015F-6D12-4F5C-B790-65F71FF682E4}"/>
              </a:ext>
            </a:extLst>
          </p:cNvPr>
          <p:cNvSpPr txBox="1"/>
          <p:nvPr/>
        </p:nvSpPr>
        <p:spPr>
          <a:xfrm>
            <a:off x="3332126" y="1959233"/>
            <a:ext cx="48282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자사몰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별도</a:t>
            </a:r>
            <a:r>
              <a:rPr lang="en-US" altLang="ko-KR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67" name="Rectangle 8">
            <a:extLst>
              <a:ext uri="{FF2B5EF4-FFF2-40B4-BE49-F238E27FC236}">
                <a16:creationId xmlns:a16="http://schemas.microsoft.com/office/drawing/2014/main" id="{4E50FB62-2028-4527-B001-7B611113B8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4497" y="1594970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로그인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4FE9607-9862-461A-91C9-7941EF015377}"/>
              </a:ext>
            </a:extLst>
          </p:cNvPr>
          <p:cNvSpPr txBox="1"/>
          <p:nvPr/>
        </p:nvSpPr>
        <p:spPr>
          <a:xfrm>
            <a:off x="4295841" y="1959233"/>
            <a:ext cx="71045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회원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온라인 회원</a:t>
            </a:r>
          </a:p>
        </p:txBody>
      </p:sp>
      <p:sp>
        <p:nvSpPr>
          <p:cNvPr id="70" name="Rectangle 8">
            <a:extLst>
              <a:ext uri="{FF2B5EF4-FFF2-40B4-BE49-F238E27FC236}">
                <a16:creationId xmlns:a16="http://schemas.microsoft.com/office/drawing/2014/main" id="{1BC7E17A-5820-4813-837D-EDA844CE8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9656" y="1594970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회원등록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1EC2407-BD90-4FAA-BEE6-CD87E9CC0D54}"/>
              </a:ext>
            </a:extLst>
          </p:cNvPr>
          <p:cNvSpPr txBox="1"/>
          <p:nvPr/>
        </p:nvSpPr>
        <p:spPr>
          <a:xfrm>
            <a:off x="6357260" y="1959233"/>
            <a:ext cx="9092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회원가입절차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온라인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79" name="Rectangle 8">
            <a:extLst>
              <a:ext uri="{FF2B5EF4-FFF2-40B4-BE49-F238E27FC236}">
                <a16:creationId xmlns:a16="http://schemas.microsoft.com/office/drawing/2014/main" id="{1C6F4285-3988-430A-9C4F-E3A011A7B9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0543" y="1594970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검색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60FBA34-DF50-4F2F-8128-C589CF2521E0}"/>
              </a:ext>
            </a:extLst>
          </p:cNvPr>
          <p:cNvSpPr txBox="1"/>
          <p:nvPr/>
        </p:nvSpPr>
        <p:spPr>
          <a:xfrm>
            <a:off x="7393224" y="1959233"/>
            <a:ext cx="98777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객실</a:t>
            </a:r>
            <a:r>
              <a:rPr lang="en-US" altLang="ko-KR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온천시설 및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예약 일정 검색</a:t>
            </a:r>
          </a:p>
        </p:txBody>
      </p:sp>
      <p:sp>
        <p:nvSpPr>
          <p:cNvPr id="83" name="Rectangle 8">
            <a:extLst>
              <a:ext uri="{FF2B5EF4-FFF2-40B4-BE49-F238E27FC236}">
                <a16:creationId xmlns:a16="http://schemas.microsoft.com/office/drawing/2014/main" id="{89705031-E1CF-4B5C-BA80-2775750C95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75138" y="1594970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언어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9037449-8686-4C90-968D-34BB5CDFC389}"/>
              </a:ext>
            </a:extLst>
          </p:cNvPr>
          <p:cNvSpPr txBox="1"/>
          <p:nvPr/>
        </p:nvSpPr>
        <p:spPr>
          <a:xfrm>
            <a:off x="8448990" y="1959233"/>
            <a:ext cx="989373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영어</a:t>
            </a:r>
            <a:r>
              <a:rPr lang="en-US" altLang="ko-KR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일어</a:t>
            </a:r>
            <a:r>
              <a:rPr lang="en-US" altLang="ko-KR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중국어</a:t>
            </a:r>
          </a:p>
        </p:txBody>
      </p:sp>
      <p:sp>
        <p:nvSpPr>
          <p:cNvPr id="85" name="Rectangle 8">
            <a:extLst>
              <a:ext uri="{FF2B5EF4-FFF2-40B4-BE49-F238E27FC236}">
                <a16:creationId xmlns:a16="http://schemas.microsoft.com/office/drawing/2014/main" id="{F5F4A828-2F13-496C-80CB-DF9779F85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513" y="1594970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마이페이지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BF3A15B-EA78-406B-B118-85BEE04B4555}"/>
              </a:ext>
            </a:extLst>
          </p:cNvPr>
          <p:cNvSpPr txBox="1"/>
          <p:nvPr/>
        </p:nvSpPr>
        <p:spPr>
          <a:xfrm>
            <a:off x="5369857" y="1959233"/>
            <a:ext cx="71045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회원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온라인 회원</a:t>
            </a:r>
          </a:p>
        </p:txBody>
      </p:sp>
      <p:sp>
        <p:nvSpPr>
          <p:cNvPr id="87" name="Rectangle 8">
            <a:extLst>
              <a:ext uri="{FF2B5EF4-FFF2-40B4-BE49-F238E27FC236}">
                <a16:creationId xmlns:a16="http://schemas.microsoft.com/office/drawing/2014/main" id="{E70B2723-3842-43CE-9112-370561EC4C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132" y="2793689"/>
            <a:ext cx="973137" cy="320675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en-US" altLang="ko-KR" sz="9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LNB</a:t>
            </a:r>
          </a:p>
        </p:txBody>
      </p:sp>
      <p:sp>
        <p:nvSpPr>
          <p:cNvPr id="88" name="Rectangle 8">
            <a:extLst>
              <a:ext uri="{FF2B5EF4-FFF2-40B4-BE49-F238E27FC236}">
                <a16:creationId xmlns:a16="http://schemas.microsoft.com/office/drawing/2014/main" id="{CC0199E6-A61C-43F3-8F6E-1DF868DEFC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688" y="2793689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소개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50FC58B-6474-4AC6-9357-E6DDF669E761}"/>
              </a:ext>
            </a:extLst>
          </p:cNvPr>
          <p:cNvSpPr txBox="1"/>
          <p:nvPr/>
        </p:nvSpPr>
        <p:spPr>
          <a:xfrm>
            <a:off x="2090338" y="3154511"/>
            <a:ext cx="80983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브랜드 영상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스토리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공지사항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보도자료</a:t>
            </a:r>
          </a:p>
        </p:txBody>
      </p:sp>
      <p:sp>
        <p:nvSpPr>
          <p:cNvPr id="90" name="Rectangle 8">
            <a:extLst>
              <a:ext uri="{FF2B5EF4-FFF2-40B4-BE49-F238E27FC236}">
                <a16:creationId xmlns:a16="http://schemas.microsoft.com/office/drawing/2014/main" id="{AA400B6C-8A02-4970-93AB-594BFCC21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4319" y="2793689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예약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30DB094-9C54-4221-BF9A-6C1F685C2A36}"/>
              </a:ext>
            </a:extLst>
          </p:cNvPr>
          <p:cNvSpPr txBox="1"/>
          <p:nvPr/>
        </p:nvSpPr>
        <p:spPr>
          <a:xfrm>
            <a:off x="3096148" y="3154511"/>
            <a:ext cx="96693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객실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골프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온천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다이닝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패키지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예약 안내 및 취소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2" name="Rectangle 8">
            <a:extLst>
              <a:ext uri="{FF2B5EF4-FFF2-40B4-BE49-F238E27FC236}">
                <a16:creationId xmlns:a16="http://schemas.microsoft.com/office/drawing/2014/main" id="{B7FC4513-6A0B-4A85-A1CE-AF9482F55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4497" y="2793689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스페셜 오퍼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8E75926-980A-40A1-A1A6-0F160DBF6F41}"/>
              </a:ext>
            </a:extLst>
          </p:cNvPr>
          <p:cNvSpPr txBox="1"/>
          <p:nvPr/>
        </p:nvSpPr>
        <p:spPr>
          <a:xfrm>
            <a:off x="4412756" y="3154511"/>
            <a:ext cx="48282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패키지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이벤트</a:t>
            </a:r>
          </a:p>
        </p:txBody>
      </p:sp>
      <p:sp>
        <p:nvSpPr>
          <p:cNvPr id="94" name="Rectangle 8">
            <a:extLst>
              <a:ext uri="{FF2B5EF4-FFF2-40B4-BE49-F238E27FC236}">
                <a16:creationId xmlns:a16="http://schemas.microsoft.com/office/drawing/2014/main" id="{ABF2B3B9-1CDA-4418-AC68-712BD323F1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8513" y="279215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객실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9F7C572-798F-48E2-937B-1B03329EF9E8}"/>
              </a:ext>
            </a:extLst>
          </p:cNvPr>
          <p:cNvSpPr txBox="1"/>
          <p:nvPr/>
        </p:nvSpPr>
        <p:spPr>
          <a:xfrm>
            <a:off x="5305736" y="3153199"/>
            <a:ext cx="83869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설해수림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설해별담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마운틴스테이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설해온천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골프텔</a:t>
            </a:r>
            <a:endParaRPr lang="en-US" altLang="ko-KR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더코어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객실 이용 안내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6" name="Rectangle 8">
            <a:extLst>
              <a:ext uri="{FF2B5EF4-FFF2-40B4-BE49-F238E27FC236}">
                <a16:creationId xmlns:a16="http://schemas.microsoft.com/office/drawing/2014/main" id="{FCE95313-A6FF-4844-B4B7-E51AA67B23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9656" y="279215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골프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7FEC727-8820-4F00-8AAC-13693CB5B91C}"/>
              </a:ext>
            </a:extLst>
          </p:cNvPr>
          <p:cNvSpPr txBox="1"/>
          <p:nvPr/>
        </p:nvSpPr>
        <p:spPr>
          <a:xfrm>
            <a:off x="6358031" y="3153199"/>
            <a:ext cx="902811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올드 코스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파인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샐몬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씨뷰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더 레전드 코스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아웃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골프 이용안내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8" name="Rectangle 8">
            <a:extLst>
              <a:ext uri="{FF2B5EF4-FFF2-40B4-BE49-F238E27FC236}">
                <a16:creationId xmlns:a16="http://schemas.microsoft.com/office/drawing/2014/main" id="{A31C27CD-298C-41AD-84CE-41563CABF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0799" y="279215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온천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FF11EA5-AC42-4C80-B509-839A6D7DA3F2}"/>
              </a:ext>
            </a:extLst>
          </p:cNvPr>
          <p:cNvSpPr txBox="1"/>
          <p:nvPr/>
        </p:nvSpPr>
        <p:spPr>
          <a:xfrm>
            <a:off x="7482448" y="3153199"/>
            <a:ext cx="80983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온천사우나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대온천 수영장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노천스파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면역공방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클라리 스파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0" name="Rectangle 8">
            <a:extLst>
              <a:ext uri="{FF2B5EF4-FFF2-40B4-BE49-F238E27FC236}">
                <a16:creationId xmlns:a16="http://schemas.microsoft.com/office/drawing/2014/main" id="{483E4201-CCF5-40F8-8D79-CC9E047BB6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81941" y="2792155"/>
            <a:ext cx="1944000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다이닝 </a:t>
            </a:r>
            <a:r>
              <a: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&amp; </a:t>
            </a: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연회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9497AAD-BA86-4787-845F-A2E909A35D34}"/>
              </a:ext>
            </a:extLst>
          </p:cNvPr>
          <p:cNvSpPr txBox="1"/>
          <p:nvPr/>
        </p:nvSpPr>
        <p:spPr>
          <a:xfrm>
            <a:off x="8498669" y="3153199"/>
            <a:ext cx="939681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altLang="ko-KR" sz="8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F&amp;B</a:t>
            </a: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곧은레스토랑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풀라 다이닝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&amp;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바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샤브룸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설해빵집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스타트 하우스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</p:txBody>
      </p:sp>
      <p:sp>
        <p:nvSpPr>
          <p:cNvPr id="102" name="Rectangle 8">
            <a:extLst>
              <a:ext uri="{FF2B5EF4-FFF2-40B4-BE49-F238E27FC236}">
                <a16:creationId xmlns:a16="http://schemas.microsoft.com/office/drawing/2014/main" id="{B1116B06-037B-4E5C-B1CE-E60C0B53DA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688" y="417788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경험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0CD56881-C8E6-4FB4-B666-AE0BCC0D9524}"/>
              </a:ext>
            </a:extLst>
          </p:cNvPr>
          <p:cNvSpPr txBox="1"/>
          <p:nvPr/>
        </p:nvSpPr>
        <p:spPr>
          <a:xfrm>
            <a:off x="1901184" y="4538707"/>
            <a:ext cx="118814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웰니스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해풍길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서재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중정 등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아트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작품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액티비티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설해랑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어메니티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F8B27C-C9D2-4C8F-BAED-77A6D1B5989C}"/>
              </a:ext>
            </a:extLst>
          </p:cNvPr>
          <p:cNvSpPr txBox="1"/>
          <p:nvPr/>
        </p:nvSpPr>
        <p:spPr>
          <a:xfrm>
            <a:off x="9592629" y="3153199"/>
            <a:ext cx="83067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연회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파노라마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곧은 연회장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/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 다이닝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 </a:t>
            </a:r>
            <a:endParaRPr lang="ko-KR" altLang="en-US" sz="8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5" name="Rectangle 8">
            <a:extLst>
              <a:ext uri="{FF2B5EF4-FFF2-40B4-BE49-F238E27FC236}">
                <a16:creationId xmlns:a16="http://schemas.microsoft.com/office/drawing/2014/main" id="{2C87FD24-1A85-41A5-A4D8-13596B959D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3942" y="417788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클리프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6" name="Rectangle 8">
            <a:extLst>
              <a:ext uri="{FF2B5EF4-FFF2-40B4-BE49-F238E27FC236}">
                <a16:creationId xmlns:a16="http://schemas.microsoft.com/office/drawing/2014/main" id="{891A1A48-F556-474C-9957-2189DDB9A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15" y="417788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기프트 카드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F43BB99-8DA8-4D28-9414-EE6293331967}"/>
              </a:ext>
            </a:extLst>
          </p:cNvPr>
          <p:cNvSpPr txBox="1"/>
          <p:nvPr/>
        </p:nvSpPr>
        <p:spPr>
          <a:xfrm>
            <a:off x="4065217" y="4538707"/>
            <a:ext cx="113685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토마스 헤더윅 뮤지엄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호텔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빌라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8" name="Rectangle 8">
            <a:extLst>
              <a:ext uri="{FF2B5EF4-FFF2-40B4-BE49-F238E27FC236}">
                <a16:creationId xmlns:a16="http://schemas.microsoft.com/office/drawing/2014/main" id="{C7E7F5EC-3ECA-496E-8872-64B9229D3E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6569" y="4177885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서울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E142720-7758-4B15-AB16-4D0F500C7CD6}"/>
              </a:ext>
            </a:extLst>
          </p:cNvPr>
          <p:cNvSpPr txBox="1"/>
          <p:nvPr/>
        </p:nvSpPr>
        <p:spPr>
          <a:xfrm>
            <a:off x="5483669" y="4538707"/>
            <a:ext cx="48282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미술관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라운지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0" name="Rectangle 8">
            <a:extLst>
              <a:ext uri="{FF2B5EF4-FFF2-40B4-BE49-F238E27FC236}">
                <a16:creationId xmlns:a16="http://schemas.microsoft.com/office/drawing/2014/main" id="{F66234FE-DC4C-4C6B-8D84-7D77D3884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9196" y="4177885"/>
            <a:ext cx="973137" cy="3206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회원모집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DA133CC-22F9-498A-9726-9C22032D6AD4}"/>
              </a:ext>
            </a:extLst>
          </p:cNvPr>
          <p:cNvSpPr txBox="1"/>
          <p:nvPr/>
        </p:nvSpPr>
        <p:spPr>
          <a:xfrm>
            <a:off x="6331153" y="4538707"/>
            <a:ext cx="9092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설해원 유니버스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입회문의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2" name="Rectangle 8">
            <a:extLst>
              <a:ext uri="{FF2B5EF4-FFF2-40B4-BE49-F238E27FC236}">
                <a16:creationId xmlns:a16="http://schemas.microsoft.com/office/drawing/2014/main" id="{D2788224-C252-42A8-9168-357048DC6B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132" y="5649447"/>
            <a:ext cx="973137" cy="320675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en-US" altLang="ko-KR" sz="9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Footer</a:t>
            </a:r>
          </a:p>
        </p:txBody>
      </p:sp>
      <p:sp>
        <p:nvSpPr>
          <p:cNvPr id="113" name="Rectangle 8">
            <a:extLst>
              <a:ext uri="{FF2B5EF4-FFF2-40B4-BE49-F238E27FC236}">
                <a16:creationId xmlns:a16="http://schemas.microsoft.com/office/drawing/2014/main" id="{98A920E0-4C52-4B55-920F-97937D472C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8688" y="5644877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5FAC2F95-D6A3-466E-AD0D-36A026641DA3}"/>
              </a:ext>
            </a:extLst>
          </p:cNvPr>
          <p:cNvSpPr txBox="1"/>
          <p:nvPr/>
        </p:nvSpPr>
        <p:spPr>
          <a:xfrm>
            <a:off x="1962098" y="6003622"/>
            <a:ext cx="106631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고객 작성 시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내부 메세지 발송 후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이메일 인입 연동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5" name="Rectangle 8">
            <a:extLst>
              <a:ext uri="{FF2B5EF4-FFF2-40B4-BE49-F238E27FC236}">
                <a16:creationId xmlns:a16="http://schemas.microsoft.com/office/drawing/2014/main" id="{18FB40CF-1F69-4283-A95F-EFEC1CED42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7584" y="5644877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이용약관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6" name="Rectangle 8">
            <a:extLst>
              <a:ext uri="{FF2B5EF4-FFF2-40B4-BE49-F238E27FC236}">
                <a16:creationId xmlns:a16="http://schemas.microsoft.com/office/drawing/2014/main" id="{86A113A1-5B49-4209-B0D3-4FC7916F00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0956" y="5644877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개인정보 처리방침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7" name="Rectangle 8">
            <a:extLst>
              <a:ext uri="{FF2B5EF4-FFF2-40B4-BE49-F238E27FC236}">
                <a16:creationId xmlns:a16="http://schemas.microsoft.com/office/drawing/2014/main" id="{2AFE6840-8AAF-4BFB-B67B-9AABC16C7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6755" y="5644877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사업자 정보</a:t>
            </a:r>
            <a:endParaRPr lang="en-US" altLang="ko-KR" sz="900" b="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FFA845B-694E-436F-AFD0-707714DB8151}"/>
              </a:ext>
            </a:extLst>
          </p:cNvPr>
          <p:cNvSpPr txBox="1"/>
          <p:nvPr/>
        </p:nvSpPr>
        <p:spPr>
          <a:xfrm>
            <a:off x="5234286" y="6003622"/>
            <a:ext cx="93807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별도 페이지 링크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또는 팝업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34B7BD1-8DCA-45CA-94D8-4601A6601140}"/>
              </a:ext>
            </a:extLst>
          </p:cNvPr>
          <p:cNvSpPr txBox="1"/>
          <p:nvPr/>
        </p:nvSpPr>
        <p:spPr>
          <a:xfrm>
            <a:off x="3101851" y="6003622"/>
            <a:ext cx="93807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별도 페이지 링크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또는 팝업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8E33587-DA6C-4C02-AB84-8B74F067A58C}"/>
              </a:ext>
            </a:extLst>
          </p:cNvPr>
          <p:cNvSpPr txBox="1"/>
          <p:nvPr/>
        </p:nvSpPr>
        <p:spPr>
          <a:xfrm>
            <a:off x="4171472" y="6003622"/>
            <a:ext cx="93807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별도 페이지 링크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또는 팝업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21" name="Rectangle 8">
            <a:extLst>
              <a:ext uri="{FF2B5EF4-FFF2-40B4-BE49-F238E27FC236}">
                <a16:creationId xmlns:a16="http://schemas.microsoft.com/office/drawing/2014/main" id="{0B50D0C5-63A7-4CEF-B7B0-F099B7D705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9195" y="5644877"/>
            <a:ext cx="973137" cy="320675"/>
          </a:xfrm>
          <a:prstGeom prst="rect">
            <a:avLst/>
          </a:prstGeom>
          <a:solidFill>
            <a:schemeClr val="bg1"/>
          </a:solidFill>
          <a:ln w="19050" algn="ctr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lIns="18000" tIns="0" rIns="18000" bIns="0" anchor="ctr"/>
          <a:lstStyle>
            <a:lvl1pPr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defRPr/>
            </a:pPr>
            <a:r>
              <a:rPr lang="ko-KR" altLang="en-US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sz="900" b="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SNS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8727027C-B0F3-4C77-8DB8-F03D2C1613CF}"/>
              </a:ext>
            </a:extLst>
          </p:cNvPr>
          <p:cNvSpPr txBox="1"/>
          <p:nvPr/>
        </p:nvSpPr>
        <p:spPr>
          <a:xfrm>
            <a:off x="6327146" y="6003622"/>
            <a:ext cx="888385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인스타그램 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btn</a:t>
            </a:r>
          </a:p>
        </p:txBody>
      </p: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A577397-4B0D-4870-9502-3A205E3B43C1}"/>
              </a:ext>
            </a:extLst>
          </p:cNvPr>
          <p:cNvCxnSpPr>
            <a:cxnSpLocks/>
          </p:cNvCxnSpPr>
          <p:nvPr/>
        </p:nvCxnSpPr>
        <p:spPr>
          <a:xfrm>
            <a:off x="7400543" y="5644877"/>
            <a:ext cx="0" cy="320675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837B2F07-514D-4F2F-A1AF-FBE7ECB15B19}"/>
              </a:ext>
            </a:extLst>
          </p:cNvPr>
          <p:cNvSpPr txBox="1"/>
          <p:nvPr/>
        </p:nvSpPr>
        <p:spPr>
          <a:xfrm>
            <a:off x="7519793" y="5697492"/>
            <a:ext cx="3799438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법인명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대표명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사업자 등록번호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개인정보관리책임자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주소</a:t>
            </a:r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전화번호 등 필수정보</a:t>
            </a:r>
            <a:endParaRPr lang="en-US" altLang="ko-KR" sz="800" dirty="0">
              <a:solidFill>
                <a:schemeClr val="bg1">
                  <a:lumMod val="50000"/>
                </a:schemeClr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6275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9B525E-25C6-4628-A9A7-22BBE89D8411}"/>
              </a:ext>
            </a:extLst>
          </p:cNvPr>
          <p:cNvSpPr txBox="1"/>
          <p:nvPr/>
        </p:nvSpPr>
        <p:spPr>
          <a:xfrm>
            <a:off x="339449" y="128120"/>
            <a:ext cx="2045753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vl="0">
              <a:defRPr/>
            </a:pP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별첨 </a:t>
            </a:r>
            <a:r>
              <a:rPr lang="en-US" altLang="ko-KR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요구사항 내역 </a:t>
            </a:r>
            <a:endParaRPr lang="ko-KR" altLang="en-US" sz="16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275151D-B40F-45DE-82D4-7374D05F6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4580570"/>
              </p:ext>
            </p:extLst>
          </p:nvPr>
        </p:nvGraphicFramePr>
        <p:xfrm>
          <a:off x="339450" y="667512"/>
          <a:ext cx="11428877" cy="59494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318">
                  <a:extLst>
                    <a:ext uri="{9D8B030D-6E8A-4147-A177-3AD203B41FA5}">
                      <a16:colId xmlns:a16="http://schemas.microsoft.com/office/drawing/2014/main" val="3611029358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6608217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3040130081"/>
                    </a:ext>
                  </a:extLst>
                </a:gridCol>
                <a:gridCol w="1445913">
                  <a:extLst>
                    <a:ext uri="{9D8B030D-6E8A-4147-A177-3AD203B41FA5}">
                      <a16:colId xmlns:a16="http://schemas.microsoft.com/office/drawing/2014/main" val="3604505737"/>
                    </a:ext>
                  </a:extLst>
                </a:gridCol>
                <a:gridCol w="6427070">
                  <a:extLst>
                    <a:ext uri="{9D8B030D-6E8A-4147-A177-3AD203B41FA5}">
                      <a16:colId xmlns:a16="http://schemas.microsoft.com/office/drawing/2014/main" val="2534408089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구분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유형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1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요건 명</a:t>
                      </a:r>
                      <a:endParaRPr lang="ko-KR" altLang="en-US" sz="900" b="1" i="0" u="none" strike="noStrike" dirty="0">
                        <a:solidFill>
                          <a:schemeClr val="bg1"/>
                        </a:solidFill>
                        <a:effectLst/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세부 요건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내용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861630"/>
                  </a:ext>
                </a:extLst>
              </a:tr>
              <a:tr h="324923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Common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시안 산출물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디자인 시안 제출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‣pc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퍼스트로 디자인 진행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주요 페이지 제작 후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mo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베리에이션 진행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817080"/>
                  </a:ext>
                </a:extLst>
              </a:tr>
              <a:tr h="324923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Common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최적화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해상도 최적화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반응형 웹사이트로 제작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아이패드 사이즈 포함 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1192703"/>
                  </a:ext>
                </a:extLst>
              </a:tr>
              <a:tr h="1115280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GNB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로고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클릭 시 메인 페이지로 이동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예약하기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부대시설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온천시설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생각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별도 페이지 생성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자사몰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로그인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회원 로그인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온라인 회원 로그인 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회원등록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회원 가입 절차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회원등록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온라인 회원 등록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검색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온천 시설 등 검색 기능 또는 예약 일정 검색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언어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영어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일어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중국어 선택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2197780"/>
                  </a:ext>
                </a:extLst>
              </a:tr>
              <a:tr h="2971466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LNB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소개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브랜드 영상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스토리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공지사항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보도자료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온천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다이닝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패키지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 안내 및 취소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스페셜 오퍼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패키지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이벤트 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설해수림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설해별담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마운틴스테이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설해온천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골프텔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더코어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 이용 안내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올드 코스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파인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샐몬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씨뷰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더 레전드 코스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아웃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 이용안내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온천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온천사우나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대온천 수영장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노천스파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면역공방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클라리 스파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&gt;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소노의 부대시설 예약 레퍼런스 참고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다이닝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&amp;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연회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F&amp;B(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곧은 레스토랑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풀라 다이닝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&amp;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바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샤브룸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설해빵집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스타트 하우스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                            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연회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파노라마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곧은 연회장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 다이닝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경험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웰니스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해풍길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서재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중정 등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아트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작품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액티비티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설해랑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어메니티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기프트 카드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결제 연동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아만 홈페이지 참고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생각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클릭시 자사몰 샵으로 연결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클리프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토마스 헤더윅 뮤지엄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호텔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빌라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서울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미술관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라운지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회원모집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유니버스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입회문의 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맵 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‣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마이페이지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3526835"/>
                  </a:ext>
                </a:extLst>
              </a:tr>
              <a:tr h="641066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Footer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CS 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내부 메세지 발송 후 이메일 인입 연동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이용약관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개인정보처리방침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사업자 정보 링크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인스타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btn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법인명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대표명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사업자 등록번호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개인정보관리책임자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주소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전화번호 등 필수정보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3390958"/>
                  </a:ext>
                </a:extLst>
              </a:tr>
              <a:tr h="324923"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00000"/>
                        </a:lnSpc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Pop up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lnSpc>
                          <a:spcPct val="100000"/>
                        </a:lnSpc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위치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메인 혹은 메뉴 최상단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공지사항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이벤트 등 관리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9400511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9C998B25-201D-4CDF-9BC1-A7D3AFA8E8C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402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67C05C6-49D3-4019-A3C2-A1A10B33003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9B525E-25C6-4628-A9A7-22BBE89D8411}"/>
              </a:ext>
            </a:extLst>
          </p:cNvPr>
          <p:cNvSpPr txBox="1"/>
          <p:nvPr/>
        </p:nvSpPr>
        <p:spPr>
          <a:xfrm>
            <a:off x="339449" y="128120"/>
            <a:ext cx="2045753" cy="338554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pPr lvl="0">
              <a:defRPr/>
            </a:pP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별첨 </a:t>
            </a:r>
            <a:r>
              <a:rPr lang="en-US" altLang="ko-KR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요구사항 내역 </a:t>
            </a:r>
            <a:endParaRPr lang="ko-KR" altLang="en-US" sz="1600" dirty="0">
              <a:solidFill>
                <a:prstClr val="black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275151D-B40F-45DE-82D4-7374D05F6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433298"/>
              </p:ext>
            </p:extLst>
          </p:nvPr>
        </p:nvGraphicFramePr>
        <p:xfrm>
          <a:off x="339450" y="657226"/>
          <a:ext cx="11428877" cy="58590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318">
                  <a:extLst>
                    <a:ext uri="{9D8B030D-6E8A-4147-A177-3AD203B41FA5}">
                      <a16:colId xmlns:a16="http://schemas.microsoft.com/office/drawing/2014/main" val="3611029358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56608217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3040130081"/>
                    </a:ext>
                  </a:extLst>
                </a:gridCol>
                <a:gridCol w="1445913">
                  <a:extLst>
                    <a:ext uri="{9D8B030D-6E8A-4147-A177-3AD203B41FA5}">
                      <a16:colId xmlns:a16="http://schemas.microsoft.com/office/drawing/2014/main" val="3604505737"/>
                    </a:ext>
                  </a:extLst>
                </a:gridCol>
                <a:gridCol w="6427070">
                  <a:extLst>
                    <a:ext uri="{9D8B030D-6E8A-4147-A177-3AD203B41FA5}">
                      <a16:colId xmlns:a16="http://schemas.microsoft.com/office/drawing/2014/main" val="2534408089"/>
                    </a:ext>
                  </a:extLst>
                </a:gridCol>
              </a:tblGrid>
              <a:tr h="23866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구분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유형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요건 명</a:t>
                      </a:r>
                      <a:endParaRPr lang="ko-KR" altLang="en-US" sz="900" b="1" i="0" u="none" strike="noStrike" dirty="0">
                        <a:solidFill>
                          <a:schemeClr val="bg1"/>
                        </a:solidFill>
                        <a:effectLst/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세부 요건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chemeClr val="bg1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내용</a:t>
                      </a:r>
                    </a:p>
                  </a:txBody>
                  <a:tcPr marL="2583" marR="2583" marT="2583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74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861630"/>
                  </a:ext>
                </a:extLst>
              </a:tr>
              <a:tr h="4491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FAB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챗봇 문의 기능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.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디자인은 홈페이지에 적합하게 개발  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8425202"/>
                  </a:ext>
                </a:extLst>
              </a:tr>
              <a:tr h="4491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페이지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Main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 사진 또는 영상 메인 컨셉 이미지 주 사용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스크롤 시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 일정 노출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프로모션 등 노출 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8964788"/>
                  </a:ext>
                </a:extLst>
              </a:tr>
              <a:tr h="4491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페이지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special offer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관리자가 업로드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96157"/>
                  </a:ext>
                </a:extLst>
              </a:tr>
              <a:tr h="2306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Front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페이지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마케팅 문의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마케팅 문의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회사명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담당자 이름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이메일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비밀번호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신청 완료 페이지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470314"/>
                  </a:ext>
                </a:extLst>
              </a:tr>
              <a:tr h="2306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설해원생각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-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상세 페이지 및 제품 리스트 페이지 내부 관리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카페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24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로 관리 가능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2262136"/>
                  </a:ext>
                </a:extLst>
              </a:tr>
              <a:tr h="4491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Main_con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[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메인 컨텐츠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]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홈페이지 내 이미지 내부 관리 가능하도록 개발 필요 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4865816"/>
                  </a:ext>
                </a:extLst>
              </a:tr>
              <a:tr h="2306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Common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폰트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폰트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윤고딕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700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6909521"/>
                  </a:ext>
                </a:extLst>
              </a:tr>
              <a:tr h="6676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결제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[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결제 종류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]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신용카드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계좌이체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가상계좌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무통장 입금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에스크로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가상계좌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간편 결제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(PAYCO, KAKAOPAY, Toss,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네이버페이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 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004773"/>
                  </a:ext>
                </a:extLst>
              </a:tr>
              <a:tr h="88615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SMS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알림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회원가입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 완료 시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체크인 시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퇴실 시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3299580"/>
                  </a:ext>
                </a:extLst>
              </a:tr>
              <a:tr h="6676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예약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취소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변경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,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확인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운영 프로그램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API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연동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+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 대기예약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부대시설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온천시설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) 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8449348"/>
                  </a:ext>
                </a:extLst>
              </a:tr>
              <a:tr h="2306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쿠폰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　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5235937"/>
                  </a:ext>
                </a:extLst>
              </a:tr>
              <a:tr h="230643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Admin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콘텐츠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위약금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객실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골프 위약금 규정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0292732"/>
                  </a:ext>
                </a:extLst>
              </a:tr>
              <a:tr h="44914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Common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기능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/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비기능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G마켓 산스 TTF Light" panose="02000000000000000000" pitchFamily="2" charset="-127"/>
                        <a:ea typeface="G마켓 산스 TTF Light" panose="02000000000000000000" pitchFamily="2" charset="-127"/>
                      </a:endParaRP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레퍼런스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레퍼런스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아만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:  https://www.aman.com/</a:t>
                      </a:r>
                      <a:b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G마켓 산스 TTF Light" panose="02000000000000000000" pitchFamily="2" charset="-127"/>
                          <a:ea typeface="G마켓 산스 TTF Light" panose="02000000000000000000" pitchFamily="2" charset="-127"/>
                        </a:rPr>
                        <a:t>1hotel : https://www.1hotels.com/</a:t>
                      </a:r>
                    </a:p>
                  </a:txBody>
                  <a:tcPr marL="108000" marR="7620" marT="762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2938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1046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9B525E-25C6-4628-A9A7-22BBE89D8411}"/>
              </a:ext>
            </a:extLst>
          </p:cNvPr>
          <p:cNvSpPr txBox="1"/>
          <p:nvPr/>
        </p:nvSpPr>
        <p:spPr>
          <a:xfrm>
            <a:off x="339449" y="128120"/>
            <a:ext cx="4398014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별첨 </a:t>
            </a:r>
            <a:r>
              <a:rPr lang="en-US" altLang="ko-KR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sz="16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요구사항 내역 </a:t>
            </a:r>
            <a:r>
              <a:rPr lang="en-US" altLang="ko-KR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(6.12 </a:t>
            </a:r>
            <a:r>
              <a:rPr lang="ko-KR" altLang="en-US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미팅 내용</a:t>
            </a:r>
            <a:r>
              <a:rPr lang="en-US" altLang="ko-KR" sz="1600" dirty="0">
                <a:solidFill>
                  <a:prstClr val="black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)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  <a:cs typeface="Pretendard" panose="02000503000000020004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9D6B576-5977-4C4E-B89E-3683C70CB449}"/>
              </a:ext>
            </a:extLst>
          </p:cNvPr>
          <p:cNvSpPr/>
          <p:nvPr/>
        </p:nvSpPr>
        <p:spPr>
          <a:xfrm>
            <a:off x="339449" y="708121"/>
            <a:ext cx="11328295" cy="5889113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보험 실비청구, 금융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거래 서비스가 잘 되어있는 APP 서비스 참고(현대해상, 하나은행 등)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사용자 편의성 중심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이 필요(신규 회원가입, 서비스 내용 확인, 회원 혜택 등의 콘텐츠, 객실 요금 등 관련 서비스 기능 및 프로모션 등등)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ko-KR" altLang="en-US" sz="1050" dirty="0" err="1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비쥬얼적인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부분은 이미 준비되어 있으나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서비스 측면에서 사용자가 홈페이지를 이용하는데 편리한 기능들이 현재 부재인 상태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PC, MO 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에서 먼저 기능적으로 갖춰진 후 APP 이 개발되었을 때 필요한 기능적 요소가 반영될 수 있도록 진행 요청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사용자들이 원하는 정보(객실 정보, 회원 서비스, 혜택 등) 위주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의 사이트로의 개선이 필요</a:t>
            </a:r>
            <a:endParaRPr lang="ko-KR" altLang="en-US" sz="1050" b="1" dirty="0">
              <a:solidFill>
                <a:srgbClr val="A57432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프로젝트에 필요한 개발(</a:t>
            </a:r>
            <a:r>
              <a:rPr lang="ko-KR" altLang="en-US" sz="1050" dirty="0" err="1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유서브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)은 현재 마무리 단계 - 테스트 서버 공유 예정(추후)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프로젝트 단계 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: </a:t>
            </a:r>
            <a:r>
              <a:rPr lang="ko-KR" altLang="en-US" sz="1050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반응형 웹 -&gt; APP(하이브리드) -&gt; 결제(커머스)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전체 사이트 맵(메뉴 구조도)을 놓고 논의 후 방향성 결정 필요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현재 개발되고 있는 관리 시스템(ERP, 예약 서비스 및 관련 기능 등등)을 홈페이지에 적용 및 카테고리 확장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단순히 소개 위주의 콘텐츠(골프 코스와 같은)만 보여주는 것이 아닌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실질적으로 매출 효과를 볼 수 있는 세부적인 프로모션 내용을 노출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시키고 싶다.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현재 프로모션은 현장 위주이고 홈페이지는 이미지 등으로만 보여주는, 소개 위주의 콘텐츠(사용자 액션이 없음)로만 구성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앱스토어 '설해원' 검색하여 나오는 앱 참고 (설해원 자체 앱은 아님)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현재는 그럴듯하게 이미지만 보여주지 실질적으로 예약을 하려면 전화하라고 안내해줌 - 매출로 이어지지 못함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실무 킥오프 미팅(6.20 또는 6.23, 시간은 추후 공유), 이후 착수 보고 예정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계약 : 킥오프 미팅 이후 업무 범위 명확해지면 착수 보고 전에 진행 예정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(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계약 시 인력 투입 계획서, 견적 등 제출</a:t>
            </a:r>
            <a:r>
              <a:rPr lang="en-US" altLang="ko-KR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)</a:t>
            </a:r>
            <a:endParaRPr lang="ko-KR" altLang="en-US" sz="1050" dirty="0"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운영 시 URL 생성 업무는 필수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회원/비회원 고객에게 보여지는 화면, 루트가 다르게 구성 요청(회원가입을 유도)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ko-KR" altLang="en-US" sz="1050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객실은 회원제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온천/레스토랑 등은 네이버 예약 등을 통해 들어옴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이미지 등 소스 제공 예정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홈페이지 디자인 : </a:t>
            </a:r>
            <a:r>
              <a:rPr lang="ko-KR" altLang="en-US" sz="1050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객실 아이콘이나 디자인 요소 등에 대한 재정리 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필요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레퍼런스 선정 이유(아만, 1hotel) : 브랜드 이미지, 매출 효과에 적합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아만 : 글로벌 브랜드, </a:t>
            </a:r>
            <a:r>
              <a:rPr lang="ko-KR" altLang="en-US" sz="1050" dirty="0" err="1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비쥬얼적인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요소가 큼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- 1hotel : 매출 극대화를 위한 요소가 많음, </a:t>
            </a:r>
            <a:r>
              <a:rPr lang="ko-KR" altLang="en-US" sz="1050" dirty="0" err="1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웰니스</a:t>
            </a: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프로그램의 경우 시간별로 예약 시스템이 잘 되어 있음</a:t>
            </a:r>
          </a:p>
          <a:p>
            <a:pPr>
              <a:lnSpc>
                <a:spcPct val="150000"/>
              </a:lnSpc>
            </a:pPr>
            <a:r>
              <a:rPr lang="ko-KR" altLang="en-US" sz="1050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- </a:t>
            </a:r>
            <a:r>
              <a:rPr lang="ko-KR" altLang="en-US" sz="1050" b="1" u="sng" dirty="0"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설해원 주 타겟층 : 홈페이지 접속은 2030, 회원은 40~60, 70까지 폭이 넓음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831281B-C2F4-4AE9-B83D-E045F18CACF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6461" y="6609575"/>
            <a:ext cx="1272383" cy="107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9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621A96-EBAC-4C1E-973C-5BCAC1D2BD83}"/>
              </a:ext>
            </a:extLst>
          </p:cNvPr>
          <p:cNvSpPr txBox="1"/>
          <p:nvPr/>
        </p:nvSpPr>
        <p:spPr>
          <a:xfrm>
            <a:off x="5270007" y="2808142"/>
            <a:ext cx="17055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E.O.D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3554AD3-C716-45E7-A34E-7E3C13EBB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805" y="6360291"/>
            <a:ext cx="1617643" cy="136152"/>
          </a:xfrm>
          <a:prstGeom prst="rect">
            <a:avLst/>
          </a:prstGeom>
        </p:spPr>
      </p:pic>
      <p:sp>
        <p:nvSpPr>
          <p:cNvPr id="4" name="Rectangle 6">
            <a:extLst>
              <a:ext uri="{FF2B5EF4-FFF2-40B4-BE49-F238E27FC236}">
                <a16:creationId xmlns:a16="http://schemas.microsoft.com/office/drawing/2014/main" id="{AD622C6C-2FBC-45CF-8F1A-CD0D769804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2354" y="6260092"/>
            <a:ext cx="542879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defRPr kumimoji="1" sz="1200" b="1">
                <a:solidFill>
                  <a:srgbClr val="686868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Looking for the path to e-Business?  </a:t>
            </a:r>
            <a:r>
              <a:rPr kumimoji="1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Digitalworks</a:t>
            </a:r>
            <a:r>
              <a:rPr kumimoji="1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shows you the way.</a:t>
            </a:r>
            <a:br>
              <a:rPr kumimoji="1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</a:b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Proprietary and Confidential   Copyright ⓒ 2013  </a:t>
            </a:r>
            <a:r>
              <a:rPr kumimoji="0" lang="en-US" altLang="ko-KR" sz="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Digitalworks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kumimoji="0" lang="en-US" altLang="ko-KR" sz="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TM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.  All rights reserved.</a:t>
            </a:r>
            <a:endParaRPr kumimoji="1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6045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2362</Words>
  <Application>Microsoft Macintosh PowerPoint</Application>
  <PresentationFormat>와이드스크린</PresentationFormat>
  <Paragraphs>444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2" baseType="lpstr">
      <vt:lpstr>맑은 고딕</vt:lpstr>
      <vt:lpstr>AvenirNext LT Pro Regular</vt:lpstr>
      <vt:lpstr>G마켓 산스 TTF Light</vt:lpstr>
      <vt:lpstr>G마켓 산스 TTF Medium</vt:lpstr>
      <vt:lpstr>Noto Sans KR</vt:lpstr>
      <vt:lpstr>Pretendard Medium</vt:lpstr>
      <vt:lpstr>Arial</vt:lpstr>
      <vt:lpstr>Office 테마</vt:lpstr>
      <vt:lpstr>1_Office 테마</vt:lpstr>
      <vt:lpstr>PowerPoint 프레젠테이션</vt:lpstr>
      <vt:lpstr>요구사항 및 개선 안 정의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요구사항 및 개선 안 정의</dc:title>
  <dc:creator>효종 유</dc:creator>
  <cp:lastModifiedBy>김상대</cp:lastModifiedBy>
  <cp:revision>71</cp:revision>
  <dcterms:created xsi:type="dcterms:W3CDTF">2025-02-18T01:17:46Z</dcterms:created>
  <dcterms:modified xsi:type="dcterms:W3CDTF">2025-06-19T10:58:45Z</dcterms:modified>
</cp:coreProperties>
</file>